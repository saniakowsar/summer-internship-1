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media/image5.jpg" ContentType="image/jp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3" r:id="rId2"/>
    <p:sldMasterId id="2147483665" r:id="rId3"/>
  </p:sldMasterIdLst>
  <p:notesMasterIdLst>
    <p:notesMasterId r:id="rId21"/>
  </p:notesMasterIdLst>
  <p:handoutMasterIdLst>
    <p:handoutMasterId r:id="rId22"/>
  </p:handoutMasterIdLst>
  <p:sldIdLst>
    <p:sldId id="256" r:id="rId4"/>
    <p:sldId id="273" r:id="rId5"/>
    <p:sldId id="257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90" r:id="rId15"/>
    <p:sldId id="288" r:id="rId16"/>
    <p:sldId id="291" r:id="rId17"/>
    <p:sldId id="279" r:id="rId18"/>
    <p:sldId id="278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9900"/>
    <a:srgbClr val="F4AF83"/>
    <a:srgbClr val="006666"/>
    <a:srgbClr val="0099FF"/>
    <a:srgbClr val="008080"/>
    <a:srgbClr val="0F9F7D"/>
    <a:srgbClr val="008000"/>
    <a:srgbClr val="373545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2EFF3C-1561-4575-94B2-90F54B554B1C}" v="4" dt="2024-09-29T07:31:39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Hi to all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5FBE0-5C21-4E83-8069-52D09BCDD71E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C5872-5BF2-424D-ADD9-174D7927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52924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Hi to all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46DD5-0A30-46AD-B2E1-F25508726044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FBC11-2ED2-450E-A0CC-CEA7380C6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95950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59A3652-50D4-4FDF-8386-41D9AF369814}"/>
              </a:ext>
            </a:extLst>
          </p:cNvPr>
          <p:cNvSpPr txBox="1">
            <a:spLocks/>
          </p:cNvSpPr>
          <p:nvPr userDrawn="1"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31DCAD4-E344-44EC-AB07-C9E97F2AF1A1}"/>
              </a:ext>
            </a:extLst>
          </p:cNvPr>
          <p:cNvSpPr txBox="1">
            <a:spLocks/>
          </p:cNvSpPr>
          <p:nvPr userDrawn="1"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F22E408-EF1D-4BD0-98E0-8FC4C9B3A82C}"/>
              </a:ext>
            </a:extLst>
          </p:cNvPr>
          <p:cNvSpPr txBox="1">
            <a:spLocks/>
          </p:cNvSpPr>
          <p:nvPr userDrawn="1"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7651D7E-4AFA-4EAA-B423-DDD0ED684DAE}"/>
              </a:ext>
            </a:extLst>
          </p:cNvPr>
          <p:cNvSpPr txBox="1">
            <a:spLocks/>
          </p:cNvSpPr>
          <p:nvPr userDrawn="1"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5449CC-CB33-491F-903E-B38334CA8A09}"/>
              </a:ext>
            </a:extLst>
          </p:cNvPr>
          <p:cNvSpPr txBox="1">
            <a:spLocks/>
          </p:cNvSpPr>
          <p:nvPr userDrawn="1"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73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>
              <a:defRPr b="0" cap="none" spc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505" y="1097279"/>
            <a:ext cx="11779135" cy="539496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/>
            </a:lvl1pPr>
            <a:lvl2pPr marL="685800" indent="-228600">
              <a:buFont typeface="Wingdings" panose="05000000000000000000" pitchFamily="2" charset="2"/>
              <a:buChar char="q"/>
              <a:defRPr/>
            </a:lvl2pPr>
            <a:lvl3pPr marL="1143000" indent="-228600">
              <a:buFont typeface="Courier New" panose="02070309020205020404" pitchFamily="49" charset="0"/>
              <a:buChar char="o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B998037-E035-4CAB-833F-75CAE5A73D0B}"/>
              </a:ext>
            </a:extLst>
          </p:cNvPr>
          <p:cNvSpPr txBox="1">
            <a:spLocks/>
          </p:cNvSpPr>
          <p:nvPr userDrawn="1"/>
        </p:nvSpPr>
        <p:spPr>
          <a:xfrm>
            <a:off x="1554477" y="6625241"/>
            <a:ext cx="5654039" cy="242596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 (AI&amp;ML)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C5DB233-EECA-4CB3-99D6-5066ABF08F18}"/>
              </a:ext>
            </a:extLst>
          </p:cNvPr>
          <p:cNvSpPr txBox="1">
            <a:spLocks/>
          </p:cNvSpPr>
          <p:nvPr userDrawn="1"/>
        </p:nvSpPr>
        <p:spPr>
          <a:xfrm>
            <a:off x="7208517" y="6625241"/>
            <a:ext cx="4545678" cy="232759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B262772-2230-41D2-9B79-2AECA3A31396}"/>
              </a:ext>
            </a:extLst>
          </p:cNvPr>
          <p:cNvSpPr txBox="1">
            <a:spLocks/>
          </p:cNvSpPr>
          <p:nvPr userDrawn="1"/>
        </p:nvSpPr>
        <p:spPr>
          <a:xfrm>
            <a:off x="11754196" y="6641865"/>
            <a:ext cx="437803" cy="216133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AC095C-C545-42F9-B93D-2B3224753C51}" type="slidenum">
              <a:rPr lang="en-US" sz="16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B44364A-DBDE-4F64-9D13-B56BF0C232A3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Mining Virtual Internship</a:t>
            </a:r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2D5020-7DF7-495B-96CC-406436563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5956065"/>
            <a:ext cx="685800" cy="6858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D25D96C-1396-47B4-9E8C-C053C7555307}"/>
              </a:ext>
            </a:extLst>
          </p:cNvPr>
          <p:cNvSpPr txBox="1">
            <a:spLocks/>
          </p:cNvSpPr>
          <p:nvPr userDrawn="1"/>
        </p:nvSpPr>
        <p:spPr>
          <a:xfrm>
            <a:off x="0" y="6625241"/>
            <a:ext cx="1554476" cy="23275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224G1A3396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59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E43D-60AB-8C80-F99E-92F81A1C7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DF135-590E-D338-D414-877D35307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7AB07-8878-DD6C-951E-317C840E8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07755-41BD-3BCA-4695-0CB3254E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6ADB8-7DF9-A741-83C3-74C97EA1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912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AA70E-7E28-CF68-6F69-1E4CD302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FC308-3CB3-F2D7-A906-5177D3371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83094-5FD0-73E2-3782-4DA945AB7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8057-969B-E22D-25A6-DDBB85F5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409BF-9A3C-24C5-4DFF-37D7474B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86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A428-7891-3A70-CE01-7A783A27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1B8B8-08E2-1AE6-CC9F-F7A89F211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4AEED-C3DB-D725-AAAA-5A6B534A1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39C8B-53F0-0DAB-63B8-D9584A9F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98B93-6215-3051-C074-F7B5B8FA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4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F1D9-5990-7865-6503-48C39118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CAAC7-8CA5-F451-471A-D10623828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3787B-B27F-D60A-22CB-8E04A543D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029B2-94E8-F00D-B79C-303A9A6E4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B74C8-C626-29BA-C062-CF9FED8AE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236C3-1418-5B12-395C-C3B296A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78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B5B4-4959-7CCB-F2F5-D11509214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9E6B4-25E4-33FB-7223-3739A3163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94FF-E3F6-AD39-F7FB-3A1147D70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BB00B3-3F0D-40BC-BFE8-CDEB54406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9580F-8621-DBDB-4773-E40A97CA3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46311E-0ADF-9B73-0FAE-5B01108D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823E5-079A-13D9-22D0-DD963364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04384-DA2D-82A1-B782-2E313669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193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C50B-852D-19AB-C429-3AE6E3B5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AF43A-7346-62E0-19ED-03955C35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69160-F7BA-B28E-8ACD-82A29B109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97770-3C98-F0BB-097D-EB27E5FA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42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96A2E-E2F9-6F68-AD4F-7996972DD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6B7EF-9673-2356-D77D-156B8683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F79B1-BB92-9421-A2EC-BD63C93D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38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E3AE-262C-6270-3F5A-C7DDA634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1B19B-6618-A549-CF6D-20E09944F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903E8-73D3-5A2A-9377-686B5B482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FEB96-B15A-A620-84DE-9A0AF5B6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4F211-9B27-E953-CC27-F72F2DBB9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7CDFB-C046-C8EA-7B26-C71AD28BC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090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3B6C-708B-727B-EAC4-ED04818C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43C4FE-0370-F607-030B-359FB37B3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8F4DC-55C3-74D4-CC47-860C3C8A5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EE4A7-4353-0A57-E8BC-D6EBE738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5A718-05A0-A1E1-6600-195C6242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B04AD-CA0E-EB85-277D-CB284CF5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918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1454-75DC-5275-9BAA-C0146E52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13400-EB0C-70B6-6A5C-8D402745A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57047-62DF-58B9-0817-94D6B106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59AA8-C6EA-4ED6-6936-C31994C70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B9511-7DFB-FA3B-4F9D-A7186050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707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F48D90-E1F7-50B2-E852-53194FDE4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77CAD-EB04-EEFD-8E4E-7ACECE34B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D1566-A2A5-C5EB-CDEF-349601BC7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6F6CF-5798-1036-9D04-DEA542947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96D6-601E-1DD2-18FE-61E982CF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517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2D0BE-1677-DBD6-BF2B-E48C34CCC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60D73-9727-FF49-9000-0ADDBA79C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66CAA-08B5-DF9C-87F2-E1F8163D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CE432-896C-F21C-CDDA-1375C176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88304-99B3-15CB-C578-4F95260C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245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9079-113D-E7D9-6AF3-FF60E053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97EFF-5E44-4E35-053F-04F4C1634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BFA39-062F-306E-8946-CD19CD56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9C970-0582-D5AF-F5D7-5E4FC61D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61BF5-000B-8FA6-1315-0D42CC3AF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879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05A4-5C60-3298-74EF-50E90548D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DAE0A-4F80-60D0-ECF0-D803527C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48921-B618-51F7-3A52-9F98AA31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7A954-974F-9D3D-B204-250AAD8A0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90640-934C-D768-E8F8-B1F215F9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695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9CB12-D1CA-4F54-7B48-E9BBF9DF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B2936-D5D4-4921-4D67-7E9B32AAB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79F6FB-FA2E-ED9E-A059-9CBC8ED9C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7B851-FDD8-28FD-2BA8-05BB5A8F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3FD6A-1F04-ACAD-7234-FF84683E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5DC06-CA3C-731C-2DBF-23250AE2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2711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F98D-9E77-01A8-6679-C90A38B78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02683-96A1-159E-8F14-0323FC951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27442-AE23-AB64-BAA6-CB8DBE893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CBBFEB-1432-209C-9E38-B85487697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C1A29-224D-DAF8-9468-D1305ADCF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E199C3-7659-5350-12BA-17A23B9F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F73DA3-A235-C84E-AA1B-FA03877D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F9FAE6-393C-1CDD-40DE-1330EC73E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9459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8E33-8912-24B3-4AEC-E9D94C9E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F8759-90C3-8845-1744-9FD8D2E9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E2609-B580-50F2-6A15-8E274E02B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8BCFE-9ECA-C8B7-53ED-6AA34DE2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329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88D15-DC4C-71C3-F358-BB9BFBFF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288E00-BF7B-2A45-E6AE-686CBA95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24BB8-A227-7B98-A3CF-17ABA255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651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0124-AFF3-F192-1FFB-DED73F7A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67BE6-363B-FAFF-1DFA-A38AEE6BA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F7161-3B7D-DC77-B3E0-F2A3E9E7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88BC9-4D62-E5EB-E7E1-38D50415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2019-8C9D-F2FB-05CD-1A8B10ED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4F665-DFDF-7248-2E66-A7BB7950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5266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7427-DC29-509B-DB3D-F9FD9440F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6C9257-1509-3F37-D986-300FF586F6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B63C0-CB3A-E2DA-EEDD-22D1F30FC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7F1A7-2F98-F083-2A6A-E4B576F6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D3406-E283-928B-2EDF-1C7E6717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8805C-3779-876E-1596-99E50367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7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31B7-655B-53A1-732C-FBC2A001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A2063-7759-52DA-45DB-DC42A2D3D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D55B8-6D63-7CB4-FF3D-1810DB8B9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57310-AA43-E897-A036-100FE711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2C66A-DF62-628B-500E-6F4BD22A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1885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4646B-696C-50DF-18FF-973A4D365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4C9A2-08F0-8AD3-839F-CB791C697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65C08-03A7-94F7-4CBA-825616EFE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62E12-9EA0-6BF2-AE4E-4AB8AE1B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75F31-0274-E617-2965-805D7080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49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1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0FE6F4-471E-6721-C1BD-FEAEC25C1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9BF55-61B1-A454-1584-7E5C393EA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72F2A-B51B-C9C3-E7D3-61A9F70CE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7907F-3076-433D-891A-B8B476B0D21B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267E8-16E0-01A2-4FE2-5FEBF18D75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99DD-9827-9FFD-DEC0-13A4CA9A0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B2D03-9C68-4356-82BD-1A2A249FE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00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B8EE7F-FF3F-0F2A-C6BE-8E7C6C33E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6CF8-02E4-C4D6-E1CD-DA3B9E845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0C9B2-74B9-8A01-4269-9564EAC63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B7316-D6E5-488F-AA97-2D57FC720C78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C8FF1-8936-2173-80A3-E988A245F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61A92-271C-A01C-1139-D7A63F7BD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B5CCE-A472-4416-AFB5-599A4723E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87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1"/>
          <p:cNvSpPr txBox="1">
            <a:spLocks/>
          </p:cNvSpPr>
          <p:nvPr/>
        </p:nvSpPr>
        <p:spPr>
          <a:xfrm>
            <a:off x="4282751" y="1795319"/>
            <a:ext cx="3340359" cy="957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Sania Kowsar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1400" b="0" dirty="0"/>
              <a:t>Roll No. 224G1A3396</a:t>
            </a:r>
          </a:p>
        </p:txBody>
      </p:sp>
      <p:sp>
        <p:nvSpPr>
          <p:cNvPr id="7" name="Subtitle 11"/>
          <p:cNvSpPr txBox="1">
            <a:spLocks/>
          </p:cNvSpPr>
          <p:nvPr/>
        </p:nvSpPr>
        <p:spPr>
          <a:xfrm>
            <a:off x="1514475" y="4776303"/>
            <a:ext cx="9163049" cy="1427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5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 </a:t>
            </a:r>
          </a:p>
          <a:p>
            <a:pPr>
              <a:spcBef>
                <a:spcPts val="500"/>
              </a:spcBef>
            </a:pPr>
            <a:r>
              <a:rPr lang="en-US" sz="5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IN" sz="5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 And Machine Learning</a:t>
            </a:r>
            <a:r>
              <a:rPr lang="en-US" sz="5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     </a:t>
            </a:r>
          </a:p>
          <a:p>
            <a:pPr>
              <a:spcBef>
                <a:spcPts val="500"/>
              </a:spcBef>
            </a:pPr>
            <a:r>
              <a:rPr lang="en-US" sz="65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Srinivasa Ramanujan Institute of Technology</a:t>
            </a:r>
          </a:p>
          <a:p>
            <a:pPr>
              <a:spcBef>
                <a:spcPts val="300"/>
              </a:spcBef>
            </a:pPr>
            <a:r>
              <a:rPr lang="en-US" sz="2100" dirty="0">
                <a:effectLst/>
                <a:ea typeface="Times New Roman" panose="02020603050405020304" pitchFamily="18" charset="0"/>
              </a:rPr>
              <a:t>(Affiliated to JNTUA &amp; Approved by AICTE) (Accredited by NAAC with ‘A’ Grade &amp; Accredited by NBA (EEE, ECE &amp; CSE)</a:t>
            </a:r>
            <a:endParaRPr lang="en-US" sz="2100" b="0" dirty="0"/>
          </a:p>
          <a:p>
            <a:pPr>
              <a:spcBef>
                <a:spcPts val="300"/>
              </a:spcBef>
            </a:pPr>
            <a:r>
              <a:rPr lang="en-US" sz="2300" dirty="0" err="1"/>
              <a:t>Rotarypuram</a:t>
            </a:r>
            <a:r>
              <a:rPr lang="en-US" sz="2300" dirty="0"/>
              <a:t> Village, B K </a:t>
            </a:r>
            <a:r>
              <a:rPr lang="en-US" sz="2300" dirty="0" err="1"/>
              <a:t>Samudram</a:t>
            </a:r>
            <a:r>
              <a:rPr lang="en-US" sz="2300" dirty="0"/>
              <a:t> Mandal, </a:t>
            </a:r>
            <a:r>
              <a:rPr lang="en-US" sz="2300" dirty="0" err="1"/>
              <a:t>Ananthapuramu</a:t>
            </a:r>
            <a:r>
              <a:rPr lang="en-US" sz="2300" dirty="0"/>
              <a:t> – 515701.</a:t>
            </a:r>
          </a:p>
          <a:p>
            <a:pPr>
              <a:spcAft>
                <a:spcPts val="100"/>
              </a:spcAft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2023 - 2024</a:t>
            </a:r>
            <a:endParaRPr lang="en-US" sz="2500" b="0" dirty="0"/>
          </a:p>
          <a:p>
            <a:endParaRPr lang="en-IN" b="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213882-6464-4A96-96D5-EA4F95F404DE}"/>
              </a:ext>
            </a:extLst>
          </p:cNvPr>
          <p:cNvSpPr/>
          <p:nvPr/>
        </p:nvSpPr>
        <p:spPr>
          <a:xfrm>
            <a:off x="755009" y="335271"/>
            <a:ext cx="10528183" cy="857864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mining virtual internship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50F0CE-B0FB-48DA-AD7D-E96A1D3BC2A8}"/>
              </a:ext>
            </a:extLst>
          </p:cNvPr>
          <p:cNvSpPr/>
          <p:nvPr/>
        </p:nvSpPr>
        <p:spPr>
          <a:xfrm>
            <a:off x="2714840" y="1261696"/>
            <a:ext cx="676230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CA60F-9532-4FDC-90D1-528E33CD3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154" y="2674613"/>
            <a:ext cx="1843673" cy="181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0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92D7B-CF16-46D8-8243-8661747A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CA917-AD8E-4861-804D-4A5A6A205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Course Objective</a:t>
            </a:r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Introduction</a:t>
            </a:r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Technology</a:t>
            </a:r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Modules</a:t>
            </a:r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Real-World </a:t>
            </a:r>
            <a:r>
              <a:rPr lang="en-IN" dirty="0"/>
              <a:t>Applications </a:t>
            </a:r>
            <a:endParaRPr lang="en-US" dirty="0"/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Learning </a:t>
            </a:r>
            <a:r>
              <a:rPr lang="en-US" dirty="0" err="1"/>
              <a:t>OutComes</a:t>
            </a:r>
            <a:endParaRPr lang="en-US" dirty="0"/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GitHub Link</a:t>
            </a:r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Queries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09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3944A0-0FCB-46FB-9E73-72A37CA2B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05" y="1097279"/>
            <a:ext cx="11779135" cy="5394960"/>
          </a:xfrm>
        </p:spPr>
        <p:txBody>
          <a:bodyPr>
            <a:noAutofit/>
          </a:bodyPr>
          <a:lstStyle/>
          <a:p>
            <a:pPr marL="457200" indent="-457200"/>
            <a:r>
              <a:rPr lang="en-IN" dirty="0"/>
              <a:t>Gaining practical experience in process discovery, conformance checking, and process </a:t>
            </a:r>
            <a:r>
              <a:rPr lang="en-US" dirty="0"/>
              <a:t>enhancement.  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                          </a:t>
            </a:r>
          </a:p>
          <a:p>
            <a:pPr marL="457200" indent="-457200"/>
            <a:r>
              <a:rPr lang="en-IN" dirty="0" err="1"/>
              <a:t>Analyzing</a:t>
            </a:r>
            <a:r>
              <a:rPr lang="en-IN" dirty="0"/>
              <a:t> real-world datasets to identify inefficiencies and propose process improvement. </a:t>
            </a:r>
          </a:p>
          <a:p>
            <a:pPr marL="457200" indent="-457200"/>
            <a:endParaRPr lang="en-IN" dirty="0"/>
          </a:p>
          <a:p>
            <a:pPr marL="457200" indent="-457200"/>
            <a:r>
              <a:rPr lang="en-IN" dirty="0"/>
              <a:t>Find and fix problems in business processes using data</a:t>
            </a:r>
            <a:r>
              <a:rPr lang="en-IN" b="1" dirty="0"/>
              <a:t>.</a:t>
            </a:r>
            <a:endParaRPr lang="en-US" b="1" dirty="0"/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5112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E96D8-17D0-788C-6849-1AB03803F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2759"/>
            <a:ext cx="12192000" cy="714892"/>
          </a:xfrm>
        </p:spPr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746B-49F7-4DCC-3636-091E39BB6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05" y="947652"/>
            <a:ext cx="11779135" cy="6436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                       </a:t>
            </a:r>
            <a:r>
              <a:rPr lang="en-IN" sz="4000" b="1" dirty="0"/>
              <a:t>Introduction to Process Mining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err="1"/>
              <a:t>Celonis</a:t>
            </a:r>
            <a:r>
              <a:rPr lang="en-US" sz="3200" dirty="0"/>
              <a:t> Process Mining is a powerful tool For analyzing and optimizing business processes.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It helps companies gain real-time visibility into their operations, identify bottlenecks, and uncover hidden opportunities.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This program is not just about learning , it’s about building a solid foundation for a future career in process mining and data analytics.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This internship program is designed to equip you with the essential skills and knowledge to excel in this rapidly growing field.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878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867E-D68F-BF26-71B4-12B5FE65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4CB0B-D534-74C2-F52E-96B956BE9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Strong Analytical Skills</a:t>
            </a:r>
          </a:p>
          <a:p>
            <a:r>
              <a:rPr lang="en-US" sz="3200" dirty="0"/>
              <a:t>We should be comfortable working with large datasets and identifying trends.</a:t>
            </a:r>
          </a:p>
          <a:p>
            <a:pPr marL="0" indent="0">
              <a:buNone/>
            </a:pPr>
            <a:r>
              <a:rPr lang="en-US" sz="3200" b="1" dirty="0"/>
              <a:t>Data Visualization Skills</a:t>
            </a:r>
          </a:p>
          <a:p>
            <a:r>
              <a:rPr lang="en-US" sz="3200" dirty="0"/>
              <a:t>Possess skills in data visualization using tools like  Power BI, or other relevant software. We should be able to create clear and compelling charts and graphs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3200" b="1" dirty="0"/>
              <a:t>Problem-Solving Skills</a:t>
            </a:r>
          </a:p>
          <a:p>
            <a:r>
              <a:rPr lang="en-US" sz="3200" dirty="0"/>
              <a:t>We should be resourceful and able to think critically to solve complex process issues.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9509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BC96-F97F-196C-0F39-44F55B728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BEFCD-5B06-EA2C-71D1-CE61ED84D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Steps in Process Mining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 err="1"/>
              <a:t>Celonis</a:t>
            </a:r>
            <a:r>
              <a:rPr lang="en-IN" dirty="0"/>
              <a:t> Process Mining Fundamentals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Rising Star – Technical</a:t>
            </a:r>
          </a:p>
          <a:p>
            <a:pPr marL="1677035" lvl="1" indent="-293370">
              <a:lnSpc>
                <a:spcPct val="100000"/>
              </a:lnSpc>
              <a:spcBef>
                <a:spcPts val="280"/>
              </a:spcBef>
              <a:buFont typeface="Courier New"/>
              <a:buChar char="o"/>
              <a:tabLst>
                <a:tab pos="1677670" algn="l"/>
              </a:tabLst>
            </a:pPr>
            <a:r>
              <a:rPr lang="en-US" sz="2800" spc="-5" dirty="0">
                <a:latin typeface="Times New Roman"/>
                <a:cs typeface="Times New Roman"/>
              </a:rPr>
              <a:t>PQL</a:t>
            </a:r>
            <a:r>
              <a:rPr lang="en-US" sz="2800" spc="-11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Queries</a:t>
            </a:r>
            <a:endParaRPr lang="en-US" sz="2800" dirty="0">
              <a:latin typeface="Times New Roman"/>
              <a:cs typeface="Times New Roman"/>
            </a:endParaRPr>
          </a:p>
          <a:p>
            <a:pPr marL="1612900" lvl="1" indent="-229235">
              <a:lnSpc>
                <a:spcPct val="100000"/>
              </a:lnSpc>
              <a:spcBef>
                <a:spcPts val="240"/>
              </a:spcBef>
              <a:buFont typeface="Courier New"/>
              <a:buChar char="o"/>
              <a:tabLst>
                <a:tab pos="1613535" algn="l"/>
              </a:tabLst>
            </a:pPr>
            <a:r>
              <a:rPr lang="en-US" sz="2800" spc="-5" dirty="0">
                <a:latin typeface="Times New Roman"/>
                <a:cs typeface="Times New Roman"/>
              </a:rPr>
              <a:t>Get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Data</a:t>
            </a:r>
            <a:r>
              <a:rPr lang="en-US" sz="2800" spc="-10" dirty="0">
                <a:latin typeface="Times New Roman"/>
                <a:cs typeface="Times New Roman"/>
              </a:rPr>
              <a:t> into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EMS</a:t>
            </a:r>
            <a:endParaRPr lang="en-US" sz="2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4307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A8A7-B3C1-462D-162A-F3867D98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30FF3-5C0B-1E43-2D97-3470D9C3A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5080" indent="0" algn="just">
              <a:lnSpc>
                <a:spcPct val="90100"/>
              </a:lnSpc>
              <a:spcBef>
                <a:spcPts val="1015"/>
              </a:spcBef>
              <a:buNone/>
            </a:pPr>
            <a:r>
              <a:rPr lang="en-US" sz="3600" b="1" spc="-5" dirty="0">
                <a:latin typeface="Times New Roman"/>
                <a:cs typeface="Times New Roman"/>
              </a:rPr>
              <a:t>Steps in Process Mining</a:t>
            </a:r>
          </a:p>
          <a:p>
            <a:pPr marL="0" marR="5080" indent="0" algn="just">
              <a:lnSpc>
                <a:spcPct val="90100"/>
              </a:lnSpc>
              <a:spcBef>
                <a:spcPts val="1015"/>
              </a:spcBef>
              <a:buNone/>
            </a:pPr>
            <a:r>
              <a:rPr lang="en-US" sz="2800" b="1" spc="-5" dirty="0">
                <a:latin typeface="Times New Roman"/>
                <a:cs typeface="Times New Roman"/>
              </a:rPr>
              <a:t>Step-1:</a:t>
            </a:r>
            <a:r>
              <a:rPr lang="en-US" sz="2800" spc="-5" dirty="0">
                <a:latin typeface="Times New Roman"/>
                <a:cs typeface="Times New Roman"/>
              </a:rPr>
              <a:t>Identify </a:t>
            </a:r>
            <a:r>
              <a:rPr lang="en-US" sz="2800" dirty="0">
                <a:latin typeface="Times New Roman"/>
                <a:cs typeface="Times New Roman"/>
              </a:rPr>
              <a:t>the problem of </a:t>
            </a:r>
            <a:r>
              <a:rPr lang="en-US" sz="2800" spc="-5" dirty="0">
                <a:latin typeface="Times New Roman"/>
                <a:cs typeface="Times New Roman"/>
              </a:rPr>
              <a:t>importance </a:t>
            </a:r>
            <a:r>
              <a:rPr lang="en-US" sz="2800" dirty="0">
                <a:latin typeface="Times New Roman"/>
                <a:cs typeface="Times New Roman"/>
              </a:rPr>
              <a:t>to the </a:t>
            </a:r>
            <a:r>
              <a:rPr lang="en-US" sz="2800" spc="-5" dirty="0">
                <a:latin typeface="Times New Roman"/>
                <a:cs typeface="Times New Roman"/>
              </a:rPr>
              <a:t>business </a:t>
            </a:r>
            <a:r>
              <a:rPr lang="en-US" sz="2800" dirty="0">
                <a:latin typeface="Times New Roman"/>
                <a:cs typeface="Times New Roman"/>
              </a:rPr>
              <a:t>that </a:t>
            </a:r>
            <a:r>
              <a:rPr lang="en-US" sz="2800" spc="-10" dirty="0">
                <a:latin typeface="Times New Roman"/>
                <a:cs typeface="Times New Roman"/>
              </a:rPr>
              <a:t>can </a:t>
            </a:r>
            <a:r>
              <a:rPr lang="en-US" sz="2800" spc="-5" dirty="0">
                <a:latin typeface="Times New Roman"/>
                <a:cs typeface="Times New Roman"/>
              </a:rPr>
              <a:t>realistically </a:t>
            </a:r>
            <a:r>
              <a:rPr lang="en-US" sz="2800" dirty="0">
                <a:latin typeface="Times New Roman"/>
                <a:cs typeface="Times New Roman"/>
              </a:rPr>
              <a:t>be </a:t>
            </a:r>
            <a:r>
              <a:rPr lang="en-US" sz="2800" spc="-5" dirty="0">
                <a:latin typeface="Times New Roman"/>
                <a:cs typeface="Times New Roman"/>
              </a:rPr>
              <a:t>addressed </a:t>
            </a:r>
            <a:r>
              <a:rPr lang="en-US" sz="2800" dirty="0">
                <a:latin typeface="Times New Roman"/>
                <a:cs typeface="Times New Roman"/>
              </a:rPr>
              <a:t> with </a:t>
            </a:r>
            <a:r>
              <a:rPr lang="en-US" sz="2800" spc="-5" dirty="0">
                <a:latin typeface="Times New Roman"/>
                <a:cs typeface="Times New Roman"/>
              </a:rPr>
              <a:t>process mining. Determine </a:t>
            </a:r>
            <a:r>
              <a:rPr lang="en-US" sz="2800" dirty="0">
                <a:latin typeface="Times New Roman"/>
                <a:cs typeface="Times New Roman"/>
              </a:rPr>
              <a:t>the business </a:t>
            </a:r>
            <a:r>
              <a:rPr lang="en-US" sz="2800" spc="-5" dirty="0">
                <a:latin typeface="Times New Roman"/>
                <a:cs typeface="Times New Roman"/>
              </a:rPr>
              <a:t>value of </a:t>
            </a:r>
            <a:r>
              <a:rPr lang="en-US" sz="2800" dirty="0">
                <a:latin typeface="Times New Roman"/>
                <a:cs typeface="Times New Roman"/>
              </a:rPr>
              <a:t>solving the </a:t>
            </a:r>
            <a:r>
              <a:rPr lang="en-US" sz="2800" spc="-5" dirty="0">
                <a:latin typeface="Times New Roman"/>
                <a:cs typeface="Times New Roman"/>
              </a:rPr>
              <a:t>problem and what metrics </a:t>
            </a:r>
            <a:r>
              <a:rPr lang="en-US" sz="2800" dirty="0">
                <a:latin typeface="Times New Roman"/>
                <a:cs typeface="Times New Roman"/>
              </a:rPr>
              <a:t>to </a:t>
            </a:r>
            <a:r>
              <a:rPr lang="en-US" sz="2800" spc="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use</a:t>
            </a:r>
            <a:r>
              <a:rPr lang="en-US" sz="2800" spc="-1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to </a:t>
            </a:r>
            <a:r>
              <a:rPr lang="en-US" sz="2800" spc="-5" dirty="0">
                <a:latin typeface="Times New Roman"/>
                <a:cs typeface="Times New Roman"/>
              </a:rPr>
              <a:t>measure</a:t>
            </a:r>
            <a:r>
              <a:rPr lang="en-US" sz="2800" spc="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success.</a:t>
            </a:r>
            <a:endParaRPr lang="en-US" sz="2800" dirty="0">
              <a:latin typeface="Times New Roman"/>
              <a:cs typeface="Times New Roman"/>
            </a:endParaRPr>
          </a:p>
          <a:p>
            <a:pPr marL="0" marR="6350" indent="0" algn="just">
              <a:lnSpc>
                <a:spcPct val="90000"/>
              </a:lnSpc>
              <a:spcBef>
                <a:spcPts val="1010"/>
              </a:spcBef>
              <a:buNone/>
            </a:pPr>
            <a:r>
              <a:rPr lang="en-US" sz="2800" b="1" spc="-5" dirty="0">
                <a:latin typeface="Times New Roman"/>
                <a:cs typeface="Times New Roman"/>
              </a:rPr>
              <a:t>Step-2:</a:t>
            </a:r>
            <a:r>
              <a:rPr lang="en-US" sz="2800" spc="-5" dirty="0">
                <a:latin typeface="Times New Roman"/>
                <a:cs typeface="Times New Roman"/>
              </a:rPr>
              <a:t>Identify </a:t>
            </a:r>
            <a:r>
              <a:rPr lang="en-US" sz="2800" dirty="0">
                <a:latin typeface="Times New Roman"/>
                <a:cs typeface="Times New Roman"/>
              </a:rPr>
              <a:t>the </a:t>
            </a:r>
            <a:r>
              <a:rPr lang="en-US" sz="2800" spc="-5" dirty="0">
                <a:latin typeface="Times New Roman"/>
                <a:cs typeface="Times New Roman"/>
              </a:rPr>
              <a:t>data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sources </a:t>
            </a:r>
            <a:r>
              <a:rPr lang="en-US" sz="2800" dirty="0">
                <a:latin typeface="Times New Roman"/>
                <a:cs typeface="Times New Roman"/>
              </a:rPr>
              <a:t>that </a:t>
            </a:r>
            <a:r>
              <a:rPr lang="en-US" sz="2800" spc="-5" dirty="0">
                <a:latin typeface="Times New Roman"/>
                <a:cs typeface="Times New Roman"/>
              </a:rPr>
              <a:t>need</a:t>
            </a:r>
            <a:r>
              <a:rPr lang="en-US" sz="2800" dirty="0">
                <a:latin typeface="Times New Roman"/>
                <a:cs typeface="Times New Roman"/>
              </a:rPr>
              <a:t> to be fully understood to </a:t>
            </a:r>
            <a:r>
              <a:rPr lang="en-US" sz="2800" spc="-5" dirty="0">
                <a:latin typeface="Times New Roman"/>
                <a:cs typeface="Times New Roman"/>
              </a:rPr>
              <a:t>address </a:t>
            </a:r>
            <a:r>
              <a:rPr lang="en-US" sz="2800" dirty="0">
                <a:latin typeface="Times New Roman"/>
                <a:cs typeface="Times New Roman"/>
              </a:rPr>
              <a:t>the </a:t>
            </a:r>
            <a:r>
              <a:rPr lang="en-US" sz="2800" spc="-5" dirty="0">
                <a:latin typeface="Times New Roman"/>
                <a:cs typeface="Times New Roman"/>
              </a:rPr>
              <a:t>business 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process </a:t>
            </a:r>
            <a:r>
              <a:rPr lang="en-US" sz="2800" dirty="0">
                <a:latin typeface="Times New Roman"/>
                <a:cs typeface="Times New Roman"/>
              </a:rPr>
              <a:t>issues under consideration. </a:t>
            </a:r>
            <a:r>
              <a:rPr lang="en-US" sz="2800" spc="-5" dirty="0">
                <a:latin typeface="Times New Roman"/>
                <a:cs typeface="Times New Roman"/>
              </a:rPr>
              <a:t>Identify </a:t>
            </a:r>
            <a:r>
              <a:rPr lang="en-US" sz="2800" dirty="0">
                <a:latin typeface="Times New Roman"/>
                <a:cs typeface="Times New Roman"/>
              </a:rPr>
              <a:t>the applications </a:t>
            </a:r>
            <a:r>
              <a:rPr lang="en-US" sz="2800" spc="-5" dirty="0">
                <a:latin typeface="Times New Roman"/>
                <a:cs typeface="Times New Roman"/>
              </a:rPr>
              <a:t>and systems that </a:t>
            </a:r>
            <a:r>
              <a:rPr lang="en-US" sz="2800" spc="-10" dirty="0">
                <a:latin typeface="Times New Roman"/>
                <a:cs typeface="Times New Roman"/>
              </a:rPr>
              <a:t>need </a:t>
            </a:r>
            <a:r>
              <a:rPr lang="en-US" sz="2800" dirty="0">
                <a:latin typeface="Times New Roman"/>
                <a:cs typeface="Times New Roman"/>
              </a:rPr>
              <a:t>to provide </a:t>
            </a:r>
            <a:r>
              <a:rPr lang="en-US" sz="2800" spc="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feeds</a:t>
            </a:r>
            <a:r>
              <a:rPr lang="en-US" sz="2800" spc="2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of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event</a:t>
            </a:r>
            <a:r>
              <a:rPr lang="en-US" sz="2800" spc="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data</a:t>
            </a:r>
            <a:r>
              <a:rPr lang="en-US" sz="2800" spc="2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for</a:t>
            </a:r>
            <a:r>
              <a:rPr lang="en-US" sz="2800" spc="-1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continuous</a:t>
            </a:r>
            <a:r>
              <a:rPr lang="en-US" sz="2800" spc="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visibility</a:t>
            </a:r>
            <a:r>
              <a:rPr lang="en-US" sz="2800" spc="-6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into</a:t>
            </a:r>
            <a:r>
              <a:rPr lang="en-US" sz="2800" spc="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end-to-end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processes.</a:t>
            </a:r>
            <a:endParaRPr lang="en-US" sz="2800" dirty="0">
              <a:latin typeface="Times New Roman"/>
              <a:cs typeface="Times New Roman"/>
            </a:endParaRPr>
          </a:p>
          <a:p>
            <a:pPr marL="0" marR="5715" indent="0" algn="just">
              <a:lnSpc>
                <a:spcPct val="90100"/>
              </a:lnSpc>
              <a:spcBef>
                <a:spcPts val="1005"/>
              </a:spcBef>
              <a:buNone/>
            </a:pPr>
            <a:r>
              <a:rPr lang="en-US" sz="2800" b="1" spc="-5" dirty="0">
                <a:latin typeface="Times New Roman"/>
                <a:cs typeface="Times New Roman"/>
              </a:rPr>
              <a:t>Step-3:</a:t>
            </a:r>
            <a:r>
              <a:rPr lang="en-US" sz="2800" spc="-5" dirty="0">
                <a:latin typeface="Times New Roman"/>
                <a:cs typeface="Times New Roman"/>
              </a:rPr>
              <a:t>Set up </a:t>
            </a:r>
            <a:r>
              <a:rPr lang="en-US" sz="2800" dirty="0">
                <a:latin typeface="Times New Roman"/>
                <a:cs typeface="Times New Roman"/>
              </a:rPr>
              <a:t>a pilot </a:t>
            </a:r>
            <a:r>
              <a:rPr lang="en-US" sz="2800" spc="-5" dirty="0">
                <a:latin typeface="Times New Roman"/>
                <a:cs typeface="Times New Roman"/>
              </a:rPr>
              <a:t>project </a:t>
            </a:r>
            <a:r>
              <a:rPr lang="en-US" sz="2800" dirty="0">
                <a:latin typeface="Times New Roman"/>
                <a:cs typeface="Times New Roman"/>
              </a:rPr>
              <a:t>to </a:t>
            </a:r>
            <a:r>
              <a:rPr lang="en-US" sz="2800" spc="-5" dirty="0">
                <a:latin typeface="Times New Roman"/>
                <a:cs typeface="Times New Roman"/>
              </a:rPr>
              <a:t>prove </a:t>
            </a:r>
            <a:r>
              <a:rPr lang="en-US" sz="2800" dirty="0">
                <a:latin typeface="Times New Roman"/>
                <a:cs typeface="Times New Roman"/>
              </a:rPr>
              <a:t>the </a:t>
            </a:r>
            <a:r>
              <a:rPr lang="en-US" sz="2800" spc="-5" dirty="0">
                <a:latin typeface="Times New Roman"/>
                <a:cs typeface="Times New Roman"/>
              </a:rPr>
              <a:t>potential value of </a:t>
            </a:r>
            <a:r>
              <a:rPr lang="en-US" sz="2800" dirty="0">
                <a:latin typeface="Times New Roman"/>
                <a:cs typeface="Times New Roman"/>
              </a:rPr>
              <a:t>a </a:t>
            </a:r>
            <a:r>
              <a:rPr lang="en-US" sz="2800" spc="-5" dirty="0">
                <a:latin typeface="Times New Roman"/>
                <a:cs typeface="Times New Roman"/>
              </a:rPr>
              <a:t>process </a:t>
            </a:r>
            <a:r>
              <a:rPr lang="en-US" sz="2800" dirty="0">
                <a:latin typeface="Times New Roman"/>
                <a:cs typeface="Times New Roman"/>
              </a:rPr>
              <a:t>mining solution. </a:t>
            </a:r>
            <a:r>
              <a:rPr lang="en-US" sz="2800" spc="-5" dirty="0">
                <a:latin typeface="Times New Roman"/>
                <a:cs typeface="Times New Roman"/>
              </a:rPr>
              <a:t>Ensure </a:t>
            </a:r>
            <a:r>
              <a:rPr lang="en-US" sz="2800" dirty="0">
                <a:latin typeface="Times New Roman"/>
                <a:cs typeface="Times New Roman"/>
              </a:rPr>
              <a:t> that the </a:t>
            </a:r>
            <a:r>
              <a:rPr lang="en-US" sz="2800" spc="-5" dirty="0">
                <a:latin typeface="Times New Roman"/>
                <a:cs typeface="Times New Roman"/>
              </a:rPr>
              <a:t>project </a:t>
            </a:r>
            <a:r>
              <a:rPr lang="en-US" sz="2800" spc="-10" dirty="0">
                <a:latin typeface="Times New Roman"/>
                <a:cs typeface="Times New Roman"/>
              </a:rPr>
              <a:t>can </a:t>
            </a:r>
            <a:r>
              <a:rPr lang="en-US" sz="2800" dirty="0">
                <a:latin typeface="Times New Roman"/>
                <a:cs typeface="Times New Roman"/>
              </a:rPr>
              <a:t>be </a:t>
            </a:r>
            <a:r>
              <a:rPr lang="en-US" sz="2800" spc="-5" dirty="0">
                <a:latin typeface="Times New Roman"/>
                <a:cs typeface="Times New Roman"/>
              </a:rPr>
              <a:t>executed </a:t>
            </a:r>
            <a:r>
              <a:rPr lang="en-US" sz="2800" dirty="0">
                <a:latin typeface="Times New Roman"/>
                <a:cs typeface="Times New Roman"/>
              </a:rPr>
              <a:t>relatively quickly </a:t>
            </a:r>
            <a:r>
              <a:rPr lang="en-US" sz="2800" spc="-5" dirty="0">
                <a:latin typeface="Times New Roman"/>
                <a:cs typeface="Times New Roman"/>
              </a:rPr>
              <a:t>and deliver specific, measurable results </a:t>
            </a:r>
            <a:r>
              <a:rPr lang="en-US" sz="2800" dirty="0">
                <a:latin typeface="Times New Roman"/>
                <a:cs typeface="Times New Roman"/>
              </a:rPr>
              <a:t>that </a:t>
            </a:r>
            <a:r>
              <a:rPr lang="en-US" sz="2800" spc="5" dirty="0">
                <a:latin typeface="Times New Roman"/>
                <a:cs typeface="Times New Roman"/>
              </a:rPr>
              <a:t> </a:t>
            </a:r>
            <a:r>
              <a:rPr lang="en-US" sz="2800" spc="-15" dirty="0">
                <a:latin typeface="Times New Roman"/>
                <a:cs typeface="Times New Roman"/>
              </a:rPr>
              <a:t>everyone</a:t>
            </a:r>
            <a:r>
              <a:rPr lang="en-US" sz="2800" spc="8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in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the</a:t>
            </a:r>
            <a:r>
              <a:rPr lang="en-US" sz="2800" spc="-10" dirty="0">
                <a:latin typeface="Times New Roman"/>
                <a:cs typeface="Times New Roman"/>
              </a:rPr>
              <a:t> organization can</a:t>
            </a:r>
            <a:r>
              <a:rPr lang="en-US" sz="2800" spc="-5" dirty="0">
                <a:latin typeface="Times New Roman"/>
                <a:cs typeface="Times New Roman"/>
              </a:rPr>
              <a:t> understand.</a:t>
            </a:r>
            <a:endParaRPr lang="en-US" sz="2800" dirty="0">
              <a:latin typeface="Times New Roman"/>
              <a:cs typeface="Times New Roman"/>
            </a:endParaRPr>
          </a:p>
          <a:p>
            <a:pPr marL="0" marR="7620" indent="0" algn="just">
              <a:lnSpc>
                <a:spcPts val="2590"/>
              </a:lnSpc>
              <a:spcBef>
                <a:spcPts val="1025"/>
              </a:spcBef>
              <a:buNone/>
            </a:pPr>
            <a:r>
              <a:rPr lang="en-US" sz="2800" b="1" spc="-5" dirty="0">
                <a:latin typeface="Times New Roman"/>
                <a:cs typeface="Times New Roman"/>
              </a:rPr>
              <a:t>Step-4:</a:t>
            </a:r>
            <a:r>
              <a:rPr lang="en-US" sz="2800" spc="-5" dirty="0">
                <a:latin typeface="Times New Roman"/>
                <a:cs typeface="Times New Roman"/>
              </a:rPr>
              <a:t>Accepting </a:t>
            </a:r>
            <a:r>
              <a:rPr lang="en-US" sz="2800" dirty="0">
                <a:latin typeface="Times New Roman"/>
                <a:cs typeface="Times New Roman"/>
              </a:rPr>
              <a:t>the results of the </a:t>
            </a:r>
            <a:r>
              <a:rPr lang="en-US" sz="2800" spc="-5" dirty="0">
                <a:latin typeface="Times New Roman"/>
                <a:cs typeface="Times New Roman"/>
              </a:rPr>
              <a:t>analysis, </a:t>
            </a:r>
            <a:r>
              <a:rPr lang="en-US" sz="2800" spc="-10" dirty="0">
                <a:latin typeface="Times New Roman"/>
                <a:cs typeface="Times New Roman"/>
              </a:rPr>
              <a:t>as </a:t>
            </a:r>
            <a:r>
              <a:rPr lang="en-US" sz="2800" dirty="0">
                <a:latin typeface="Times New Roman"/>
                <a:cs typeface="Times New Roman"/>
              </a:rPr>
              <a:t>process mining </a:t>
            </a:r>
            <a:r>
              <a:rPr lang="en-US" sz="2800" spc="-5" dirty="0">
                <a:latin typeface="Times New Roman"/>
                <a:cs typeface="Times New Roman"/>
              </a:rPr>
              <a:t>provides, </a:t>
            </a:r>
            <a:r>
              <a:rPr lang="en-US" sz="2800" dirty="0">
                <a:latin typeface="Times New Roman"/>
                <a:cs typeface="Times New Roman"/>
              </a:rPr>
              <a:t>among other </a:t>
            </a:r>
            <a:r>
              <a:rPr lang="en-US" sz="2800" spc="-5" dirty="0">
                <a:latin typeface="Times New Roman"/>
                <a:cs typeface="Times New Roman"/>
              </a:rPr>
              <a:t>things, </a:t>
            </a:r>
            <a:r>
              <a:rPr lang="en-US" sz="2800" dirty="0">
                <a:latin typeface="Times New Roman"/>
                <a:cs typeface="Times New Roman"/>
              </a:rPr>
              <a:t>a </a:t>
            </a:r>
            <a:r>
              <a:rPr lang="en-US" sz="2800" spc="-58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clear</a:t>
            </a:r>
            <a:r>
              <a:rPr lang="en-US" sz="2800" spc="1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picture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based</a:t>
            </a:r>
            <a:r>
              <a:rPr lang="en-US" sz="2800" dirty="0">
                <a:latin typeface="Times New Roman"/>
                <a:cs typeface="Times New Roman"/>
              </a:rPr>
              <a:t> on </a:t>
            </a:r>
            <a:r>
              <a:rPr lang="en-US" sz="2800" spc="-5" dirty="0">
                <a:latin typeface="Times New Roman"/>
                <a:cs typeface="Times New Roman"/>
              </a:rPr>
              <a:t>facts.</a:t>
            </a:r>
            <a:endParaRPr lang="en-US" sz="2800" dirty="0">
              <a:latin typeface="Times New Roman"/>
              <a:cs typeface="Times New Roma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80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4106-93A2-7EE9-45C1-2F1F5504B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D0800-6343-5EB7-ECA5-D4DFC7EA3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86" y="1028453"/>
            <a:ext cx="11779135" cy="539496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7600" b="1" dirty="0" err="1"/>
              <a:t>Celonis</a:t>
            </a:r>
            <a:r>
              <a:rPr lang="en-IN" sz="7600" b="1" dirty="0"/>
              <a:t> Process Mining Fundamentals</a:t>
            </a:r>
          </a:p>
          <a:p>
            <a:pPr marL="0" indent="0">
              <a:buNone/>
            </a:pPr>
            <a:endParaRPr lang="en-IN" sz="7600" b="1" dirty="0"/>
          </a:p>
          <a:p>
            <a:pPr marL="241300" marR="5080" indent="-228600">
              <a:lnSpc>
                <a:spcPts val="2590"/>
              </a:lnSpc>
              <a:spcBef>
                <a:spcPts val="425"/>
              </a:spcBef>
              <a:buSzPct val="95833"/>
              <a:buFont typeface="Wingdings"/>
              <a:buChar char=""/>
              <a:tabLst>
                <a:tab pos="256540" algn="l"/>
              </a:tabLst>
            </a:pPr>
            <a:r>
              <a:rPr lang="en-US" sz="6000" spc="-5" dirty="0">
                <a:latin typeface="Times New Roman"/>
                <a:cs typeface="Times New Roman"/>
              </a:rPr>
              <a:t>Process</a:t>
            </a:r>
            <a:r>
              <a:rPr lang="en-US" sz="6000" spc="204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mining</a:t>
            </a:r>
            <a:r>
              <a:rPr lang="en-US" sz="6000" spc="18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is</a:t>
            </a:r>
            <a:r>
              <a:rPr lang="en-US" sz="6000" spc="229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a</a:t>
            </a:r>
            <a:r>
              <a:rPr lang="en-US" sz="6000" spc="19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set</a:t>
            </a:r>
            <a:r>
              <a:rPr lang="en-US" sz="6000" spc="229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of</a:t>
            </a:r>
            <a:r>
              <a:rPr lang="en-US" sz="6000" spc="18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techniques</a:t>
            </a:r>
            <a:r>
              <a:rPr lang="en-US" sz="6000" spc="190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used</a:t>
            </a:r>
            <a:r>
              <a:rPr lang="en-US" sz="6000" spc="200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for</a:t>
            </a:r>
            <a:r>
              <a:rPr lang="en-US" sz="6000" spc="19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obtaining</a:t>
            </a:r>
            <a:r>
              <a:rPr lang="en-US" sz="6000" spc="16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knowledge</a:t>
            </a:r>
            <a:r>
              <a:rPr lang="en-US" sz="6000" spc="204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and</a:t>
            </a:r>
            <a:r>
              <a:rPr lang="en-US" sz="6000" spc="22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extracting</a:t>
            </a:r>
            <a:r>
              <a:rPr lang="en-US" sz="6000" spc="18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insights </a:t>
            </a:r>
            <a:r>
              <a:rPr lang="en-US" sz="6000" spc="-58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from processes.</a:t>
            </a:r>
            <a:endParaRPr lang="en-US" sz="6000" dirty="0">
              <a:latin typeface="Times New Roman"/>
              <a:cs typeface="Times New Roman"/>
            </a:endParaRPr>
          </a:p>
          <a:p>
            <a:pPr marL="241300" marR="631825" indent="-228600">
              <a:lnSpc>
                <a:spcPts val="2590"/>
              </a:lnSpc>
              <a:spcBef>
                <a:spcPts val="990"/>
              </a:spcBef>
              <a:buSzPct val="95833"/>
              <a:buFont typeface="Wingdings"/>
              <a:buChar char=""/>
              <a:tabLst>
                <a:tab pos="256540" algn="l"/>
              </a:tabLst>
            </a:pPr>
            <a:r>
              <a:rPr lang="en-US" sz="6000" dirty="0">
                <a:latin typeface="Times New Roman"/>
                <a:cs typeface="Times New Roman"/>
              </a:rPr>
              <a:t>This </a:t>
            </a:r>
            <a:r>
              <a:rPr lang="en-US" sz="6000" spc="-5" dirty="0">
                <a:latin typeface="Times New Roman"/>
                <a:cs typeface="Times New Roman"/>
              </a:rPr>
              <a:t>training</a:t>
            </a:r>
            <a:r>
              <a:rPr lang="en-US" sz="6000" spc="-2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track</a:t>
            </a:r>
            <a:r>
              <a:rPr lang="en-US" sz="6000" spc="2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provides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both</a:t>
            </a:r>
            <a:r>
              <a:rPr lang="en-US" sz="6000" spc="-20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the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theoretical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and </a:t>
            </a:r>
            <a:r>
              <a:rPr lang="en-US" sz="6000" spc="-5" dirty="0">
                <a:latin typeface="Times New Roman"/>
                <a:cs typeface="Times New Roman"/>
              </a:rPr>
              <a:t>applied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foundations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around</a:t>
            </a:r>
            <a:r>
              <a:rPr lang="en-US" sz="6000" spc="1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Process </a:t>
            </a:r>
            <a:r>
              <a:rPr lang="en-US" sz="6000" spc="-58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Mining.</a:t>
            </a:r>
            <a:endParaRPr lang="en-US" sz="6000" dirty="0">
              <a:latin typeface="Times New Roman"/>
              <a:cs typeface="Times New Roman"/>
            </a:endParaRPr>
          </a:p>
          <a:p>
            <a:pPr marL="256540" indent="-243840">
              <a:lnSpc>
                <a:spcPts val="2735"/>
              </a:lnSpc>
              <a:spcBef>
                <a:spcPts val="690"/>
              </a:spcBef>
              <a:buSzPct val="95833"/>
              <a:buFont typeface="Wingdings"/>
              <a:buChar char=""/>
              <a:tabLst>
                <a:tab pos="256540" algn="l"/>
              </a:tabLst>
            </a:pPr>
            <a:r>
              <a:rPr lang="en-US" sz="6000" spc="-5" dirty="0">
                <a:latin typeface="Times New Roman"/>
                <a:cs typeface="Times New Roman"/>
              </a:rPr>
              <a:t>Process</a:t>
            </a:r>
            <a:r>
              <a:rPr lang="en-US" sz="6000" spc="20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mining</a:t>
            </a:r>
            <a:r>
              <a:rPr lang="en-US" sz="6000" spc="-25" dirty="0">
                <a:latin typeface="Times New Roman"/>
                <a:cs typeface="Times New Roman"/>
              </a:rPr>
              <a:t> </a:t>
            </a:r>
            <a:r>
              <a:rPr lang="en-US" sz="6000" spc="-10" dirty="0">
                <a:latin typeface="Times New Roman"/>
                <a:cs typeface="Times New Roman"/>
              </a:rPr>
              <a:t>reads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this</a:t>
            </a:r>
            <a:r>
              <a:rPr lang="en-US" sz="6000" spc="1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data,</a:t>
            </a:r>
            <a:r>
              <a:rPr lang="en-US" sz="6000" spc="-1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converts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it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into</a:t>
            </a:r>
            <a:r>
              <a:rPr lang="en-US" sz="6000" spc="-2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an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event</a:t>
            </a:r>
            <a:r>
              <a:rPr lang="en-US" sz="600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log,</a:t>
            </a:r>
            <a:r>
              <a:rPr lang="en-US" sz="6000" spc="2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and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then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spc="-10" dirty="0">
                <a:latin typeface="Times New Roman"/>
                <a:cs typeface="Times New Roman"/>
              </a:rPr>
              <a:t>creates</a:t>
            </a:r>
            <a:r>
              <a:rPr lang="en-US" sz="6000" spc="20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visualizations of</a:t>
            </a:r>
            <a:r>
              <a:rPr lang="en-US" sz="6000" spc="-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the</a:t>
            </a:r>
            <a:r>
              <a:rPr lang="en-US" sz="6000" spc="-2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end-to-end</a:t>
            </a:r>
            <a:r>
              <a:rPr lang="en-US" sz="6000" spc="2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process,</a:t>
            </a:r>
            <a:r>
              <a:rPr lang="en-US" sz="6000" spc="2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along</a:t>
            </a:r>
            <a:r>
              <a:rPr lang="en-US" sz="6000" dirty="0">
                <a:latin typeface="Times New Roman"/>
                <a:cs typeface="Times New Roman"/>
              </a:rPr>
              <a:t> with</a:t>
            </a:r>
            <a:r>
              <a:rPr lang="en-US" sz="6000" spc="-5" dirty="0">
                <a:latin typeface="Times New Roman"/>
                <a:cs typeface="Times New Roman"/>
              </a:rPr>
              <a:t> insightful</a:t>
            </a:r>
            <a:r>
              <a:rPr lang="en-US" sz="6000" spc="-25" dirty="0">
                <a:latin typeface="Times New Roman"/>
                <a:cs typeface="Times New Roman"/>
              </a:rPr>
              <a:t> </a:t>
            </a:r>
            <a:r>
              <a:rPr lang="en-US" sz="6000" spc="-10" dirty="0">
                <a:latin typeface="Times New Roman"/>
                <a:cs typeface="Times New Roman"/>
              </a:rPr>
              <a:t>analytics.</a:t>
            </a:r>
            <a:endParaRPr lang="en-US" sz="6000" dirty="0">
              <a:latin typeface="Times New Roman"/>
              <a:cs typeface="Times New Roman"/>
            </a:endParaRPr>
          </a:p>
          <a:p>
            <a:pPr marL="256540" indent="-243840">
              <a:lnSpc>
                <a:spcPts val="2735"/>
              </a:lnSpc>
              <a:spcBef>
                <a:spcPts val="720"/>
              </a:spcBef>
              <a:buSzPct val="95833"/>
              <a:buFont typeface="Wingdings"/>
              <a:buChar char=""/>
              <a:tabLst>
                <a:tab pos="256540" algn="l"/>
              </a:tabLst>
            </a:pPr>
            <a:r>
              <a:rPr lang="en-US" sz="6000" dirty="0">
                <a:latin typeface="Times New Roman"/>
                <a:cs typeface="Times New Roman"/>
              </a:rPr>
              <a:t>An</a:t>
            </a:r>
            <a:r>
              <a:rPr lang="en-US" sz="6000" spc="-1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event</a:t>
            </a:r>
            <a:r>
              <a:rPr lang="en-US" sz="6000" spc="2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log</a:t>
            </a:r>
            <a:r>
              <a:rPr lang="en-US" sz="6000" spc="-2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contains</a:t>
            </a:r>
            <a:r>
              <a:rPr lang="en-US" sz="6000" dirty="0">
                <a:latin typeface="Times New Roman"/>
                <a:cs typeface="Times New Roman"/>
              </a:rPr>
              <a:t> </a:t>
            </a:r>
            <a:r>
              <a:rPr lang="en-US" sz="6000" spc="-10" dirty="0">
                <a:latin typeface="Times New Roman"/>
                <a:cs typeface="Times New Roman"/>
              </a:rPr>
              <a:t>each</a:t>
            </a:r>
            <a:r>
              <a:rPr lang="en-US" sz="6000" spc="20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step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spc="-10" dirty="0">
                <a:latin typeface="Times New Roman"/>
                <a:cs typeface="Times New Roman"/>
              </a:rPr>
              <a:t>performed</a:t>
            </a:r>
            <a:r>
              <a:rPr lang="en-US" sz="6000" spc="1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during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the</a:t>
            </a:r>
            <a:r>
              <a:rPr lang="en-US" sz="6000" spc="-5" dirty="0">
                <a:latin typeface="Times New Roman"/>
                <a:cs typeface="Times New Roman"/>
              </a:rPr>
              <a:t> process</a:t>
            </a:r>
            <a:r>
              <a:rPr lang="en-US" sz="6000" spc="20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,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the</a:t>
            </a:r>
            <a:r>
              <a:rPr lang="en-US" sz="6000" spc="-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time</a:t>
            </a:r>
            <a:r>
              <a:rPr lang="en-US" sz="6000" spc="-3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at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which</a:t>
            </a:r>
            <a:r>
              <a:rPr lang="en-US" sz="6000" spc="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the</a:t>
            </a:r>
            <a:r>
              <a:rPr lang="en-US" sz="6000" spc="-5" dirty="0">
                <a:latin typeface="Times New Roman"/>
                <a:cs typeface="Times New Roman"/>
              </a:rPr>
              <a:t> event </a:t>
            </a:r>
            <a:r>
              <a:rPr lang="en-US" sz="6000" spc="-10" dirty="0">
                <a:latin typeface="Times New Roman"/>
                <a:cs typeface="Times New Roman"/>
              </a:rPr>
              <a:t>occurred</a:t>
            </a:r>
            <a:r>
              <a:rPr lang="en-US" sz="6000" spc="1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, </a:t>
            </a:r>
            <a:r>
              <a:rPr lang="en-US" sz="6000" spc="-5" dirty="0">
                <a:latin typeface="Times New Roman"/>
                <a:cs typeface="Times New Roman"/>
              </a:rPr>
              <a:t>and</a:t>
            </a:r>
            <a:r>
              <a:rPr lang="en-US" sz="6000" spc="20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for</a:t>
            </a:r>
            <a:r>
              <a:rPr lang="en-US" sz="6000" spc="-1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which</a:t>
            </a:r>
            <a:r>
              <a:rPr lang="en-US" sz="6000" spc="1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instance</a:t>
            </a:r>
            <a:r>
              <a:rPr lang="en-US" sz="6000" spc="-10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of the</a:t>
            </a:r>
            <a:r>
              <a:rPr lang="en-US" sz="6000" spc="1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process.</a:t>
            </a:r>
            <a:endParaRPr lang="en-US" sz="6000" dirty="0">
              <a:latin typeface="Times New Roman"/>
              <a:cs typeface="Times New Roman"/>
            </a:endParaRPr>
          </a:p>
          <a:p>
            <a:pPr marL="256540" indent="-243840">
              <a:lnSpc>
                <a:spcPct val="100000"/>
              </a:lnSpc>
              <a:spcBef>
                <a:spcPts val="695"/>
              </a:spcBef>
              <a:buSzPct val="95833"/>
              <a:buFont typeface="Wingdings"/>
              <a:buChar char=""/>
              <a:tabLst>
                <a:tab pos="256540" algn="l"/>
              </a:tabLst>
            </a:pPr>
            <a:r>
              <a:rPr lang="en-US" sz="6000" spc="-5" dirty="0">
                <a:latin typeface="Times New Roman"/>
                <a:cs typeface="Times New Roman"/>
              </a:rPr>
              <a:t>Using</a:t>
            </a:r>
            <a:r>
              <a:rPr lang="en-US" sz="6000" dirty="0">
                <a:latin typeface="Times New Roman"/>
                <a:cs typeface="Times New Roman"/>
              </a:rPr>
              <a:t> this</a:t>
            </a:r>
            <a:r>
              <a:rPr lang="en-US" sz="6000" spc="-2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event</a:t>
            </a:r>
            <a:r>
              <a:rPr lang="en-US" sz="600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log,</a:t>
            </a:r>
            <a:r>
              <a:rPr lang="en-US" sz="6000" spc="2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algorithms</a:t>
            </a:r>
            <a:r>
              <a:rPr lang="en-US" sz="6000" dirty="0">
                <a:latin typeface="Times New Roman"/>
                <a:cs typeface="Times New Roman"/>
              </a:rPr>
              <a:t> </a:t>
            </a:r>
            <a:r>
              <a:rPr lang="en-US" sz="6000" spc="-10" dirty="0">
                <a:latin typeface="Times New Roman"/>
                <a:cs typeface="Times New Roman"/>
              </a:rPr>
              <a:t>generate</a:t>
            </a:r>
            <a:r>
              <a:rPr lang="en-US" sz="6000" spc="40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a</a:t>
            </a:r>
            <a:r>
              <a:rPr lang="en-US" sz="6000" spc="-10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process</a:t>
            </a:r>
            <a:r>
              <a:rPr lang="en-US" sz="6000" spc="25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model that</a:t>
            </a:r>
            <a:r>
              <a:rPr lang="en-US" sz="6000" spc="-25" dirty="0">
                <a:latin typeface="Times New Roman"/>
                <a:cs typeface="Times New Roman"/>
              </a:rPr>
              <a:t> </a:t>
            </a:r>
            <a:r>
              <a:rPr lang="en-US" sz="6000" spc="-5" dirty="0">
                <a:latin typeface="Times New Roman"/>
                <a:cs typeface="Times New Roman"/>
              </a:rPr>
              <a:t>shows</a:t>
            </a:r>
            <a:r>
              <a:rPr lang="en-US" sz="6000" spc="20" dirty="0">
                <a:latin typeface="Times New Roman"/>
                <a:cs typeface="Times New Roman"/>
              </a:rPr>
              <a:t> </a:t>
            </a:r>
            <a:r>
              <a:rPr lang="en-US" sz="6000" dirty="0">
                <a:latin typeface="Times New Roman"/>
                <a:cs typeface="Times New Roman"/>
              </a:rPr>
              <a:t>the </a:t>
            </a:r>
            <a:r>
              <a:rPr lang="en-US" sz="6000" spc="-5" dirty="0">
                <a:latin typeface="Times New Roman"/>
                <a:cs typeface="Times New Roman"/>
              </a:rPr>
              <a:t>process.</a:t>
            </a:r>
            <a:endParaRPr lang="en-US" sz="6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sz="6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4375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40FB-CE08-7DA6-65C9-B9E43D5D4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FD8B3-973B-C3EC-0FC1-1B536DA7C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object 14">
            <a:extLst>
              <a:ext uri="{FF2B5EF4-FFF2-40B4-BE49-F238E27FC236}">
                <a16:creationId xmlns:a16="http://schemas.microsoft.com/office/drawing/2014/main" id="{8B48FCD9-E575-0ADA-701A-FA408D8617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413" y="3549445"/>
            <a:ext cx="10235381" cy="2592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EBC992-2D0C-69EF-BC63-C68F01DEB6A3}"/>
              </a:ext>
            </a:extLst>
          </p:cNvPr>
          <p:cNvSpPr txBox="1"/>
          <p:nvPr/>
        </p:nvSpPr>
        <p:spPr>
          <a:xfrm>
            <a:off x="0" y="1097279"/>
            <a:ext cx="6302476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6545" indent="-284480">
              <a:lnSpc>
                <a:spcPct val="100000"/>
              </a:lnSpc>
              <a:spcBef>
                <a:spcPts val="355"/>
              </a:spcBef>
              <a:buSzPct val="96428"/>
              <a:buFont typeface="Wingdings"/>
              <a:buChar char=""/>
              <a:tabLst>
                <a:tab pos="297180" algn="l"/>
              </a:tabLst>
            </a:pPr>
            <a:r>
              <a:rPr lang="en-US" sz="2800" spc="5" dirty="0">
                <a:latin typeface="Times New Roman"/>
                <a:cs typeface="Times New Roman"/>
              </a:rPr>
              <a:t>Main</a:t>
            </a:r>
            <a:r>
              <a:rPr lang="en-US" sz="2800" spc="-55" dirty="0">
                <a:latin typeface="Times New Roman"/>
                <a:cs typeface="Times New Roman"/>
              </a:rPr>
              <a:t> </a:t>
            </a:r>
            <a:r>
              <a:rPr lang="en-US" sz="2800" spc="5" dirty="0">
                <a:latin typeface="Times New Roman"/>
                <a:cs typeface="Times New Roman"/>
              </a:rPr>
              <a:t>Stages</a:t>
            </a:r>
            <a:r>
              <a:rPr lang="en-US" sz="2800" spc="-80" dirty="0">
                <a:latin typeface="Times New Roman"/>
                <a:cs typeface="Times New Roman"/>
              </a:rPr>
              <a:t> </a:t>
            </a:r>
            <a:r>
              <a:rPr lang="en-US" sz="2800" spc="5" dirty="0">
                <a:latin typeface="Times New Roman"/>
                <a:cs typeface="Times New Roman"/>
              </a:rPr>
              <a:t>in</a:t>
            </a:r>
            <a:r>
              <a:rPr lang="en-US" sz="2800" spc="-25" dirty="0">
                <a:latin typeface="Times New Roman"/>
                <a:cs typeface="Times New Roman"/>
              </a:rPr>
              <a:t> </a:t>
            </a:r>
            <a:r>
              <a:rPr lang="en-US" sz="2800" spc="5" dirty="0">
                <a:latin typeface="Times New Roman"/>
                <a:cs typeface="Times New Roman"/>
              </a:rPr>
              <a:t>Process</a:t>
            </a:r>
            <a:r>
              <a:rPr lang="en-US" sz="2800" spc="-45" dirty="0">
                <a:latin typeface="Times New Roman"/>
                <a:cs typeface="Times New Roman"/>
              </a:rPr>
              <a:t> </a:t>
            </a:r>
            <a:r>
              <a:rPr lang="en-US" sz="2800" spc="5" dirty="0">
                <a:latin typeface="Times New Roman"/>
                <a:cs typeface="Times New Roman"/>
              </a:rPr>
              <a:t>Mining:</a:t>
            </a:r>
            <a:endParaRPr lang="en-US" sz="2800" dirty="0">
              <a:latin typeface="Times New Roman"/>
              <a:cs typeface="Times New Roman"/>
            </a:endParaRPr>
          </a:p>
          <a:p>
            <a:pPr marL="741680" lvl="1" indent="-272415">
              <a:lnSpc>
                <a:spcPct val="100000"/>
              </a:lnSpc>
              <a:spcBef>
                <a:spcPts val="210"/>
              </a:spcBef>
              <a:buSzPct val="95833"/>
              <a:buFont typeface="Wingdings"/>
              <a:buChar char=""/>
              <a:tabLst>
                <a:tab pos="742315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Activity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or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interaction.</a:t>
            </a:r>
            <a:endParaRPr lang="en-US" sz="2400" dirty="0">
              <a:latin typeface="Times New Roman"/>
              <a:cs typeface="Times New Roman"/>
            </a:endParaRPr>
          </a:p>
          <a:p>
            <a:pPr marL="742315" lvl="1" indent="-273050">
              <a:lnSpc>
                <a:spcPct val="100000"/>
              </a:lnSpc>
              <a:spcBef>
                <a:spcPts val="215"/>
              </a:spcBef>
              <a:buSzPct val="95833"/>
              <a:buFont typeface="Wingdings"/>
              <a:buChar char=""/>
              <a:tabLst>
                <a:tab pos="74295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Event</a:t>
            </a:r>
            <a:r>
              <a:rPr lang="en-US" sz="2400" spc="-6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Log.</a:t>
            </a:r>
            <a:endParaRPr lang="en-US" sz="2400" dirty="0">
              <a:latin typeface="Times New Roman"/>
              <a:cs typeface="Times New Roman"/>
            </a:endParaRPr>
          </a:p>
          <a:p>
            <a:pPr marL="741680" lvl="1" indent="-272415">
              <a:lnSpc>
                <a:spcPct val="100000"/>
              </a:lnSpc>
              <a:spcBef>
                <a:spcPts val="220"/>
              </a:spcBef>
              <a:buSzPct val="95833"/>
              <a:buFont typeface="Wingdings"/>
              <a:buChar char=""/>
              <a:tabLst>
                <a:tab pos="742315" algn="l"/>
              </a:tabLst>
            </a:pPr>
            <a:r>
              <a:rPr lang="en-US" sz="2400" spc="-15" dirty="0">
                <a:latin typeface="Times New Roman"/>
                <a:cs typeface="Times New Roman"/>
              </a:rPr>
              <a:t>Visualized.</a:t>
            </a:r>
            <a:endParaRPr lang="en-US" sz="2400" dirty="0">
              <a:latin typeface="Times New Roman"/>
              <a:cs typeface="Times New Roman"/>
            </a:endParaRPr>
          </a:p>
          <a:p>
            <a:pPr marL="742315" lvl="1" indent="-273050">
              <a:lnSpc>
                <a:spcPct val="100000"/>
              </a:lnSpc>
              <a:spcBef>
                <a:spcPts val="215"/>
              </a:spcBef>
              <a:buSzPct val="95833"/>
              <a:buFont typeface="Wingdings"/>
              <a:buChar char=""/>
              <a:tabLst>
                <a:tab pos="74295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Process</a:t>
            </a:r>
            <a:r>
              <a:rPr lang="en-US" sz="2400" spc="-1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Analytics.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1754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95B4-4BE6-53F2-883E-EA633929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D0359-2A02-7F86-30DE-2A26D75C3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spc="-5" dirty="0"/>
              <a:t>RISING</a:t>
            </a:r>
            <a:r>
              <a:rPr lang="en-IN" sz="3600" b="1" spc="-30" dirty="0"/>
              <a:t> </a:t>
            </a:r>
            <a:r>
              <a:rPr lang="en-IN" sz="3600" b="1" spc="-75" dirty="0"/>
              <a:t>STAR-</a:t>
            </a:r>
            <a:r>
              <a:rPr lang="en-IN" sz="3600" b="1" spc="-114" dirty="0"/>
              <a:t> </a:t>
            </a:r>
            <a:r>
              <a:rPr lang="en-IN" sz="3600" b="1" spc="-5" dirty="0"/>
              <a:t>TECHNICAL</a:t>
            </a:r>
          </a:p>
          <a:p>
            <a:pPr marL="12700" marR="5080" algn="just">
              <a:lnSpc>
                <a:spcPct val="90000"/>
              </a:lnSpc>
              <a:spcBef>
                <a:spcPts val="385"/>
              </a:spcBef>
              <a:buSzPct val="95833"/>
              <a:buFont typeface="Wingdings"/>
              <a:buChar char=""/>
              <a:tabLst>
                <a:tab pos="256540" algn="l"/>
              </a:tabLst>
            </a:pPr>
            <a:r>
              <a:rPr lang="en-US" dirty="0">
                <a:latin typeface="Times New Roman"/>
                <a:cs typeface="Times New Roman"/>
              </a:rPr>
              <a:t>This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refers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to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emerging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trends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and</a:t>
            </a:r>
            <a:r>
              <a:rPr lang="en-US" dirty="0">
                <a:latin typeface="Times New Roman"/>
                <a:cs typeface="Times New Roman"/>
              </a:rPr>
              <a:t> advancements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in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process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mining,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such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as</a:t>
            </a:r>
            <a:r>
              <a:rPr lang="en-US" spc="58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new 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algorithms, techniques, and </a:t>
            </a:r>
            <a:r>
              <a:rPr lang="en-US" dirty="0">
                <a:latin typeface="Times New Roman"/>
                <a:cs typeface="Times New Roman"/>
              </a:rPr>
              <a:t>tools </a:t>
            </a:r>
            <a:r>
              <a:rPr lang="en-US" spc="-5" dirty="0">
                <a:latin typeface="Times New Roman"/>
                <a:cs typeface="Times New Roman"/>
              </a:rPr>
              <a:t>that enhance </a:t>
            </a:r>
            <a:r>
              <a:rPr lang="en-US" spc="-10" dirty="0">
                <a:latin typeface="Times New Roman"/>
                <a:cs typeface="Times New Roman"/>
              </a:rPr>
              <a:t>the </a:t>
            </a:r>
            <a:r>
              <a:rPr lang="en-US" spc="-5" dirty="0">
                <a:latin typeface="Times New Roman"/>
                <a:cs typeface="Times New Roman"/>
              </a:rPr>
              <a:t>capabilities and applications of process 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mining.</a:t>
            </a:r>
            <a:endParaRPr lang="en-US" dirty="0">
              <a:latin typeface="Times New Roman"/>
              <a:cs typeface="Times New Roman"/>
            </a:endParaRPr>
          </a:p>
          <a:p>
            <a:pPr marL="256540" indent="-243840" algn="just">
              <a:lnSpc>
                <a:spcPct val="100000"/>
              </a:lnSpc>
              <a:spcBef>
                <a:spcPts val="700"/>
              </a:spcBef>
              <a:buSzPct val="95833"/>
              <a:buFont typeface="Wingdings"/>
              <a:buChar char=""/>
              <a:tabLst>
                <a:tab pos="25654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Under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this</a:t>
            </a:r>
            <a:r>
              <a:rPr lang="en-US" spc="-2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we</a:t>
            </a:r>
            <a:r>
              <a:rPr lang="en-US" spc="1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mainly</a:t>
            </a:r>
            <a:r>
              <a:rPr lang="en-US" spc="-2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learn</a:t>
            </a:r>
            <a:r>
              <a:rPr lang="en-US" spc="2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about</a:t>
            </a:r>
            <a:r>
              <a:rPr lang="en-US" spc="-2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two</a:t>
            </a:r>
            <a:r>
              <a:rPr lang="en-US" spc="-5" dirty="0">
                <a:latin typeface="Times New Roman"/>
                <a:cs typeface="Times New Roman"/>
              </a:rPr>
              <a:t> topics:</a:t>
            </a:r>
            <a:endParaRPr lang="en-US" dirty="0">
              <a:latin typeface="Times New Roman"/>
              <a:cs typeface="Times New Roman"/>
            </a:endParaRPr>
          </a:p>
          <a:p>
            <a:pPr marL="810895" lvl="1" indent="-341630">
              <a:lnSpc>
                <a:spcPct val="100000"/>
              </a:lnSpc>
              <a:spcBef>
                <a:spcPts val="280"/>
              </a:spcBef>
              <a:buFont typeface="Courier New"/>
              <a:buChar char="o"/>
              <a:tabLst>
                <a:tab pos="811530" algn="l"/>
              </a:tabLst>
            </a:pPr>
            <a:r>
              <a:rPr lang="en-US" sz="2800" spc="-5" dirty="0">
                <a:latin typeface="Times New Roman"/>
                <a:cs typeface="Times New Roman"/>
              </a:rPr>
              <a:t>PQL</a:t>
            </a:r>
            <a:r>
              <a:rPr lang="en-US" sz="2800" spc="-9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Queries</a:t>
            </a:r>
            <a:endParaRPr lang="en-US" sz="2800" dirty="0">
              <a:latin typeface="Times New Roman"/>
              <a:cs typeface="Times New Roman"/>
            </a:endParaRPr>
          </a:p>
          <a:p>
            <a:pPr marL="810895" lvl="1" indent="-341630">
              <a:lnSpc>
                <a:spcPct val="100000"/>
              </a:lnSpc>
              <a:spcBef>
                <a:spcPts val="265"/>
              </a:spcBef>
              <a:buFont typeface="Courier New"/>
              <a:buChar char="o"/>
              <a:tabLst>
                <a:tab pos="811530" algn="l"/>
              </a:tabLst>
            </a:pPr>
            <a:r>
              <a:rPr lang="en-US" sz="2800" spc="-5" dirty="0">
                <a:latin typeface="Times New Roman"/>
                <a:cs typeface="Times New Roman"/>
              </a:rPr>
              <a:t>Get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Data</a:t>
            </a:r>
            <a:r>
              <a:rPr lang="en-US" sz="2800" spc="-10" dirty="0">
                <a:latin typeface="Times New Roman"/>
                <a:cs typeface="Times New Roman"/>
              </a:rPr>
              <a:t> into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lang="en-US" sz="2800" spc="-20" dirty="0">
                <a:latin typeface="Times New Roman"/>
                <a:cs typeface="Times New Roman"/>
              </a:rPr>
              <a:t>Ems</a:t>
            </a:r>
            <a:endParaRPr lang="en-US" sz="2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550833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F853-4104-7953-FD58-4C10D8A01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424"/>
            <a:ext cx="12192000" cy="714892"/>
          </a:xfrm>
        </p:spPr>
        <p:txBody>
          <a:bodyPr/>
          <a:lstStyle/>
          <a:p>
            <a:r>
              <a:rPr lang="en-IN" dirty="0"/>
              <a:t>Modules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FF2F-0FDE-2555-4F50-DFA699FB3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lang="en-US" sz="3500" spc="-5" dirty="0">
                <a:latin typeface="Calibri"/>
                <a:cs typeface="Calibri"/>
              </a:rPr>
              <a:t>PQL</a:t>
            </a:r>
            <a:r>
              <a:rPr lang="en-US" sz="3500" spc="-25" dirty="0">
                <a:latin typeface="Calibri"/>
                <a:cs typeface="Calibri"/>
              </a:rPr>
              <a:t> </a:t>
            </a:r>
            <a:r>
              <a:rPr lang="en-US" sz="3500" spc="-10" dirty="0">
                <a:latin typeface="Calibri"/>
                <a:cs typeface="Calibri"/>
              </a:rPr>
              <a:t>Queries</a:t>
            </a:r>
            <a:r>
              <a:rPr lang="en-US" sz="3600" spc="-10" dirty="0">
                <a:latin typeface="Calibri"/>
                <a:cs typeface="Calibri"/>
              </a:rPr>
              <a:t>:</a:t>
            </a:r>
            <a:endParaRPr lang="en-US" sz="3600" dirty="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55"/>
              </a:spcBef>
              <a:buSzPct val="75000"/>
              <a:buFont typeface="Courier New" panose="02070309020205020404" pitchFamily="49" charset="0"/>
              <a:buChar char="o"/>
              <a:tabLst>
                <a:tab pos="350520" algn="l"/>
                <a:tab pos="351155" algn="l"/>
              </a:tabLst>
            </a:pPr>
            <a:r>
              <a:rPr lang="en-US" sz="2600" dirty="0">
                <a:latin typeface="Calibri"/>
                <a:cs typeface="Calibri"/>
              </a:rPr>
              <a:t>PQL </a:t>
            </a:r>
            <a:r>
              <a:rPr lang="en-US" sz="2600" spc="-10" dirty="0">
                <a:latin typeface="Calibri"/>
                <a:cs typeface="Calibri"/>
              </a:rPr>
              <a:t>(Process </a:t>
            </a:r>
            <a:r>
              <a:rPr lang="en-US" sz="2600" dirty="0">
                <a:latin typeface="Calibri"/>
                <a:cs typeface="Calibri"/>
              </a:rPr>
              <a:t>Query Language) is a </a:t>
            </a:r>
            <a:r>
              <a:rPr lang="en-US" sz="2600" spc="-5" dirty="0">
                <a:latin typeface="Calibri"/>
                <a:cs typeface="Calibri"/>
              </a:rPr>
              <a:t>specialized </a:t>
            </a:r>
            <a:r>
              <a:rPr lang="en-US" sz="2600" dirty="0">
                <a:latin typeface="Calibri"/>
                <a:cs typeface="Calibri"/>
              </a:rPr>
              <a:t>language used </a:t>
            </a:r>
            <a:r>
              <a:rPr lang="en-US" sz="2600" spc="-10" dirty="0">
                <a:latin typeface="Calibri"/>
                <a:cs typeface="Calibri"/>
              </a:rPr>
              <a:t>to </a:t>
            </a:r>
            <a:r>
              <a:rPr lang="en-US" sz="2600" spc="5" dirty="0">
                <a:latin typeface="Calibri"/>
                <a:cs typeface="Calibri"/>
              </a:rPr>
              <a:t>query </a:t>
            </a:r>
            <a:r>
              <a:rPr lang="en-US" sz="2600" spc="-5" dirty="0">
                <a:latin typeface="Calibri"/>
                <a:cs typeface="Calibri"/>
              </a:rPr>
              <a:t>process </a:t>
            </a:r>
            <a:r>
              <a:rPr lang="en-US" sz="2600" dirty="0">
                <a:latin typeface="Calibri"/>
                <a:cs typeface="Calibri"/>
              </a:rPr>
              <a:t>mining </a:t>
            </a:r>
            <a:r>
              <a:rPr lang="en-US" sz="2600" spc="-5" dirty="0">
                <a:latin typeface="Calibri"/>
                <a:cs typeface="Calibri"/>
              </a:rPr>
              <a:t>tools. </a:t>
            </a:r>
            <a:r>
              <a:rPr lang="en-US" sz="2600" spc="-53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It</a:t>
            </a:r>
            <a:r>
              <a:rPr lang="en-US" sz="2600" spc="-10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allows</a:t>
            </a:r>
            <a:r>
              <a:rPr lang="en-US" sz="2600" spc="-20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users</a:t>
            </a:r>
            <a:r>
              <a:rPr lang="en-US" sz="2600" spc="-15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to</a:t>
            </a:r>
            <a:r>
              <a:rPr lang="en-US" sz="2600" spc="-35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retrieve</a:t>
            </a:r>
            <a:r>
              <a:rPr lang="en-US" sz="2600" spc="-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specific</a:t>
            </a:r>
            <a:r>
              <a:rPr lang="en-US" sz="2600" spc="-15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information</a:t>
            </a:r>
            <a:r>
              <a:rPr lang="en-US" sz="2600" spc="-75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from</a:t>
            </a:r>
            <a:r>
              <a:rPr lang="en-US" sz="2600" spc="-5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event</a:t>
            </a:r>
            <a:r>
              <a:rPr lang="en-US" sz="2600" spc="-3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logs</a:t>
            </a:r>
            <a:r>
              <a:rPr lang="en-US" sz="2600" spc="-1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and</a:t>
            </a:r>
            <a:r>
              <a:rPr lang="en-US" sz="2600" spc="-10" dirty="0">
                <a:latin typeface="Calibri"/>
                <a:cs typeface="Calibri"/>
              </a:rPr>
              <a:t> process</a:t>
            </a:r>
            <a:r>
              <a:rPr lang="en-US" sz="2600" spc="-2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models</a:t>
            </a:r>
          </a:p>
          <a:p>
            <a:pPr marL="354965" marR="779145" indent="-342900">
              <a:lnSpc>
                <a:spcPct val="100000"/>
              </a:lnSpc>
              <a:spcBef>
                <a:spcPts val="5"/>
              </a:spcBef>
              <a:buFont typeface="Courier New" panose="02070309020205020404" pitchFamily="49" charset="0"/>
              <a:buChar char="o"/>
              <a:tabLst>
                <a:tab pos="299720" algn="l"/>
              </a:tabLst>
            </a:pPr>
            <a:r>
              <a:rPr lang="en-US" sz="2600" dirty="0">
                <a:latin typeface="Calibri"/>
                <a:cs typeface="Calibri"/>
              </a:rPr>
              <a:t>With</a:t>
            </a:r>
            <a:r>
              <a:rPr lang="en-US" sz="2600" spc="-30" dirty="0">
                <a:latin typeface="Calibri"/>
                <a:cs typeface="Calibri"/>
              </a:rPr>
              <a:t> </a:t>
            </a:r>
            <a:r>
              <a:rPr lang="en-US" sz="2600" spc="5" dirty="0">
                <a:latin typeface="Calibri"/>
                <a:cs typeface="Calibri"/>
              </a:rPr>
              <a:t>PQL,</a:t>
            </a:r>
            <a:r>
              <a:rPr lang="en-US" sz="2600" spc="-15" dirty="0">
                <a:latin typeface="Calibri"/>
                <a:cs typeface="Calibri"/>
              </a:rPr>
              <a:t> you</a:t>
            </a:r>
            <a:r>
              <a:rPr lang="en-US" sz="2600" spc="5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can</a:t>
            </a:r>
            <a:r>
              <a:rPr lang="en-US" sz="2600" spc="1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ask</a:t>
            </a:r>
            <a:r>
              <a:rPr lang="en-US" sz="2600" spc="-2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questions</a:t>
            </a:r>
            <a:r>
              <a:rPr lang="en-US" sz="2600" spc="-7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about</a:t>
            </a:r>
            <a:r>
              <a:rPr lang="en-US" sz="2600" spc="-25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process</a:t>
            </a:r>
            <a:r>
              <a:rPr lang="en-US" sz="2600" spc="-20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performance,</a:t>
            </a:r>
            <a:r>
              <a:rPr lang="en-US" sz="2600" spc="-6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identify</a:t>
            </a:r>
            <a:r>
              <a:rPr lang="en-US" sz="2600" spc="-1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deviations</a:t>
            </a:r>
            <a:r>
              <a:rPr lang="en-US" sz="2600" spc="-70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from </a:t>
            </a:r>
            <a:r>
              <a:rPr lang="en-US" sz="2600" spc="-525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expected</a:t>
            </a:r>
            <a:r>
              <a:rPr lang="en-US" sz="2600" spc="-5" dirty="0">
                <a:latin typeface="Calibri"/>
                <a:cs typeface="Calibri"/>
              </a:rPr>
              <a:t> </a:t>
            </a:r>
            <a:r>
              <a:rPr lang="en-US" sz="2600" spc="-30" dirty="0">
                <a:latin typeface="Calibri"/>
                <a:cs typeface="Calibri"/>
              </a:rPr>
              <a:t>behavior,</a:t>
            </a:r>
            <a:r>
              <a:rPr lang="en-US" sz="2600" spc="-1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or</a:t>
            </a:r>
            <a:r>
              <a:rPr lang="en-US" sz="2600" spc="-10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extract</a:t>
            </a:r>
            <a:r>
              <a:rPr lang="en-US" sz="2600" spc="-10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patterns</a:t>
            </a:r>
            <a:r>
              <a:rPr lang="en-US" sz="2600" spc="-9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and</a:t>
            </a:r>
            <a:r>
              <a:rPr lang="en-US" sz="2600" spc="-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trends</a:t>
            </a:r>
            <a:r>
              <a:rPr lang="en-US" sz="2600" spc="-70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from</a:t>
            </a:r>
            <a:r>
              <a:rPr lang="en-US" sz="2600" spc="-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the</a:t>
            </a:r>
            <a:r>
              <a:rPr lang="en-US" sz="2600" spc="-10" dirty="0">
                <a:latin typeface="Calibri"/>
                <a:cs typeface="Calibri"/>
              </a:rPr>
              <a:t> process</a:t>
            </a:r>
            <a:r>
              <a:rPr lang="en-US" sz="2600" spc="-25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data.</a:t>
            </a:r>
            <a:endParaRPr lang="en-US"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lang="en-US" sz="3000" b="1" spc="-15" dirty="0">
                <a:latin typeface="Times New Roman"/>
                <a:cs typeface="Times New Roman"/>
              </a:rPr>
              <a:t>Get</a:t>
            </a:r>
            <a:r>
              <a:rPr lang="en-US" sz="3000" b="1" dirty="0">
                <a:latin typeface="Times New Roman"/>
                <a:cs typeface="Times New Roman"/>
              </a:rPr>
              <a:t> </a:t>
            </a:r>
            <a:r>
              <a:rPr lang="en-US" sz="3000" b="1" spc="-5" dirty="0">
                <a:latin typeface="Times New Roman"/>
                <a:cs typeface="Times New Roman"/>
              </a:rPr>
              <a:t>Data</a:t>
            </a:r>
            <a:r>
              <a:rPr lang="en-US" sz="3000" b="1" spc="5" dirty="0">
                <a:latin typeface="Times New Roman"/>
                <a:cs typeface="Times New Roman"/>
              </a:rPr>
              <a:t> </a:t>
            </a:r>
            <a:r>
              <a:rPr lang="en-US" sz="3000" b="1" spc="-5" dirty="0">
                <a:latin typeface="Times New Roman"/>
                <a:cs typeface="Times New Roman"/>
              </a:rPr>
              <a:t>into</a:t>
            </a:r>
            <a:r>
              <a:rPr lang="en-US" sz="3000" b="1" spc="-15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EMS:</a:t>
            </a:r>
          </a:p>
          <a:p>
            <a:pPr marL="241300" indent="-228600">
              <a:lnSpc>
                <a:spcPts val="2735"/>
              </a:lnSpc>
              <a:spcBef>
                <a:spcPts val="700"/>
              </a:spcBef>
              <a:buFont typeface="Courier New"/>
              <a:buChar char="o"/>
              <a:tabLst>
                <a:tab pos="241300" algn="l"/>
              </a:tabLst>
            </a:pPr>
            <a:r>
              <a:rPr lang="en-US" sz="2600" spc="-90" dirty="0">
                <a:latin typeface="Times New Roman"/>
                <a:cs typeface="Times New Roman"/>
              </a:rPr>
              <a:t>To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import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data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into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an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EMS,</a:t>
            </a:r>
            <a:r>
              <a:rPr lang="en-US" sz="2600" spc="150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you</a:t>
            </a:r>
            <a:r>
              <a:rPr lang="en-US" sz="2600" spc="14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can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collect</a:t>
            </a:r>
            <a:r>
              <a:rPr lang="en-US" sz="2600" spc="1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event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logs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from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various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sources,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such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as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system </a:t>
            </a:r>
            <a:r>
              <a:rPr lang="en-US" sz="2600" spc="-5" dirty="0">
                <a:latin typeface="Times New Roman"/>
                <a:cs typeface="Times New Roman"/>
              </a:rPr>
              <a:t>logs,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databases,</a:t>
            </a:r>
            <a:r>
              <a:rPr lang="en-US" sz="2600" dirty="0">
                <a:latin typeface="Times New Roman"/>
                <a:cs typeface="Times New Roman"/>
              </a:rPr>
              <a:t> or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other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applications.</a:t>
            </a:r>
            <a:endParaRPr lang="en-US"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Courier New"/>
              <a:buChar char="o"/>
              <a:tabLst>
                <a:tab pos="241300" algn="l"/>
              </a:tabLst>
            </a:pPr>
            <a:r>
              <a:rPr lang="en-US" sz="2600" spc="-5" dirty="0">
                <a:latin typeface="Times New Roman"/>
                <a:cs typeface="Times New Roman"/>
              </a:rPr>
              <a:t>These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event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logs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serve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as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the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input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for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process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mining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analysis.</a:t>
            </a:r>
            <a:endParaRPr lang="en-US" sz="2600" dirty="0">
              <a:latin typeface="Times New Roman"/>
              <a:cs typeface="Times New Roman"/>
            </a:endParaRPr>
          </a:p>
          <a:p>
            <a:pPr marL="241300" marR="6985" indent="-228600">
              <a:lnSpc>
                <a:spcPts val="2590"/>
              </a:lnSpc>
              <a:spcBef>
                <a:spcPts val="1050"/>
              </a:spcBef>
              <a:buFont typeface="Courier New"/>
              <a:buChar char="o"/>
              <a:tabLst>
                <a:tab pos="241300" algn="l"/>
                <a:tab pos="1094740" algn="l"/>
                <a:tab pos="2137410" algn="l"/>
                <a:tab pos="3813810" algn="l"/>
                <a:tab pos="5497195" algn="l"/>
                <a:tab pos="6667500" algn="l"/>
                <a:tab pos="9518650" algn="l"/>
                <a:tab pos="10228580" algn="l"/>
                <a:tab pos="10612755" algn="l"/>
              </a:tabLst>
            </a:pPr>
            <a:r>
              <a:rPr lang="en-US" sz="2600" spc="-5" dirty="0">
                <a:latin typeface="Times New Roman"/>
                <a:cs typeface="Times New Roman"/>
              </a:rPr>
              <a:t>These	sources	</a:t>
            </a:r>
            <a:r>
              <a:rPr lang="en-US" sz="2600" spc="10" dirty="0">
                <a:latin typeface="Times New Roman"/>
                <a:cs typeface="Times New Roman"/>
              </a:rPr>
              <a:t>may</a:t>
            </a:r>
            <a:r>
              <a:rPr lang="en-US" sz="2600" spc="36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include	</a:t>
            </a:r>
            <a:r>
              <a:rPr lang="en-US" sz="2600" spc="-5" dirty="0">
                <a:latin typeface="Times New Roman"/>
                <a:cs typeface="Times New Roman"/>
              </a:rPr>
              <a:t>transactional	systems,	databases,</a:t>
            </a:r>
            <a:r>
              <a:rPr lang="en-US" sz="2600" spc="434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application	logs,	</a:t>
            </a:r>
            <a:r>
              <a:rPr lang="en-US" sz="2600" dirty="0">
                <a:latin typeface="Times New Roman"/>
                <a:cs typeface="Times New Roman"/>
              </a:rPr>
              <a:t>or	</a:t>
            </a:r>
            <a:r>
              <a:rPr lang="en-US" sz="2600" spc="10" dirty="0">
                <a:latin typeface="Times New Roman"/>
                <a:cs typeface="Times New Roman"/>
              </a:rPr>
              <a:t>any</a:t>
            </a:r>
            <a:r>
              <a:rPr lang="en-US" sz="2600" spc="28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other </a:t>
            </a:r>
            <a:r>
              <a:rPr lang="en-US" sz="2600" spc="-58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system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that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generates</a:t>
            </a:r>
            <a:r>
              <a:rPr lang="en-US" sz="2600" spc="3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event data.</a:t>
            </a:r>
            <a:endParaRPr lang="en-US"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ts val="2735"/>
              </a:lnSpc>
              <a:spcBef>
                <a:spcPts val="665"/>
              </a:spcBef>
              <a:buFont typeface="Courier New"/>
              <a:buChar char="o"/>
              <a:tabLst>
                <a:tab pos="241300" algn="l"/>
              </a:tabLst>
            </a:pPr>
            <a:r>
              <a:rPr lang="en-US" sz="2600" spc="-5" dirty="0">
                <a:latin typeface="Times New Roman"/>
                <a:cs typeface="Times New Roman"/>
              </a:rPr>
              <a:t>Once</a:t>
            </a:r>
            <a:r>
              <a:rPr lang="en-US" sz="2600" spc="1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the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event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logs</a:t>
            </a:r>
            <a:r>
              <a:rPr lang="en-US" sz="2600" spc="14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are</a:t>
            </a:r>
            <a:r>
              <a:rPr lang="en-US" sz="2600" spc="1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imported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into</a:t>
            </a:r>
            <a:r>
              <a:rPr lang="en-US" sz="2600" spc="1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the</a:t>
            </a:r>
            <a:r>
              <a:rPr lang="en-US" sz="2600" spc="1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EMS,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they</a:t>
            </a:r>
            <a:r>
              <a:rPr lang="en-US" sz="2600" spc="9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can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be</a:t>
            </a:r>
            <a:r>
              <a:rPr lang="en-US" sz="2600" spc="1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used</a:t>
            </a:r>
            <a:r>
              <a:rPr lang="en-US" sz="2600" spc="110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as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input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for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process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mining </a:t>
            </a:r>
            <a:r>
              <a:rPr lang="en-US" sz="2600" spc="-10" dirty="0">
                <a:latin typeface="Times New Roman"/>
                <a:cs typeface="Times New Roman"/>
              </a:rPr>
              <a:t>analysis.</a:t>
            </a:r>
            <a:endParaRPr lang="en-US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1912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BFCD-C4F2-6F6F-371D-1A2649A2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Applications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CF7EE-AA10-D4B2-C5F8-38879E08D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Finance, speeding up transformation efforts and delivering better quarter-on-quarter results.</a:t>
            </a:r>
          </a:p>
          <a:p>
            <a:r>
              <a:rPr lang="en-IN" dirty="0"/>
              <a:t>Supply Chain , increasing resiliency.</a:t>
            </a:r>
          </a:p>
          <a:p>
            <a:r>
              <a:rPr lang="en-IN" dirty="0"/>
              <a:t>System transformation, minimizing risk and accelerating all phases of migration journeys.</a:t>
            </a:r>
          </a:p>
          <a:p>
            <a:r>
              <a:rPr lang="en-IN" dirty="0"/>
              <a:t>Process excellence, uncovering hidden value opportunities , fast.</a:t>
            </a:r>
          </a:p>
          <a:p>
            <a:r>
              <a:rPr lang="en-IN" dirty="0"/>
              <a:t>Shared services, driving the evolution from cost </a:t>
            </a:r>
            <a:r>
              <a:rPr lang="en-IN" dirty="0" err="1"/>
              <a:t>center</a:t>
            </a:r>
            <a:r>
              <a:rPr lang="en-IN" dirty="0"/>
              <a:t> to always-on values magnet.</a:t>
            </a:r>
          </a:p>
          <a:p>
            <a:r>
              <a:rPr lang="en-IN" dirty="0"/>
              <a:t>Sustainability and ESG, reducing shipping emission and driving sustainable spend management. </a:t>
            </a:r>
          </a:p>
        </p:txBody>
      </p:sp>
    </p:spTree>
    <p:extLst>
      <p:ext uri="{BB962C8B-B14F-4D97-AF65-F5344CB8AC3E}">
        <p14:creationId xmlns:p14="http://schemas.microsoft.com/office/powerpoint/2010/main" val="2056955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069F6-0F9A-6994-7ECC-87AACD47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</p:spPr>
        <p:txBody>
          <a:bodyPr/>
          <a:lstStyle/>
          <a:p>
            <a:r>
              <a:rPr lang="en-IN" dirty="0"/>
              <a:t>Learning </a:t>
            </a:r>
            <a:r>
              <a:rPr lang="en-IN" dirty="0" err="1"/>
              <a:t>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78FEB-4488-B5EB-8281-D8A5F5699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Celonis</a:t>
            </a:r>
            <a:r>
              <a:rPr lang="en-US" dirty="0"/>
              <a:t> Internship Program is a fantastic opportunity to gain valuable skills, knowledge, and experience in the rapidly growing field of process mining.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We are committed to providing a challenging and rewarding internship experience that will prepare you for a successful career in process mining.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you are passionate about data analysis, process optimization, and technology, we encourage you to apply for this internship.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This is your chance to make a real impact, learn from the best, and build a strong foundation for your future in the exciting world of process mining.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27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8B34-0673-BE87-530A-89BDC34ED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Certificate</a:t>
            </a:r>
            <a:br>
              <a:rPr lang="en-IN"/>
            </a:b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67A17F-EA16-C689-30D4-4440F68E5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955" y="1096963"/>
            <a:ext cx="4364393" cy="5395912"/>
          </a:xfrm>
        </p:spPr>
      </p:pic>
    </p:spTree>
    <p:extLst>
      <p:ext uri="{BB962C8B-B14F-4D97-AF65-F5344CB8AC3E}">
        <p14:creationId xmlns:p14="http://schemas.microsoft.com/office/powerpoint/2010/main" val="1516119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C8ED-E8F7-40CD-8D41-BF01C7A7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0" strike="noStrike" spc="-1" dirty="0">
                <a:solidFill>
                  <a:srgbClr val="FFFFFF"/>
                </a:solidFill>
                <a:latin typeface="Times New Roman"/>
              </a:rPr>
              <a:t>Git Hub Dashboard</a:t>
            </a:r>
            <a:endParaRPr lang="en-IN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6578A73-D112-6861-9A96-EA4E8ED0AE2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/>
        </p:blipFill>
        <p:spPr>
          <a:xfrm>
            <a:off x="1140884" y="1107038"/>
            <a:ext cx="9592732" cy="4128180"/>
          </a:xfrm>
          <a:prstGeom prst="rect">
            <a:avLst/>
          </a:prstGeom>
          <a:ln w="0"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230333-6268-988A-D03E-098BB3A2845B}"/>
              </a:ext>
            </a:extLst>
          </p:cNvPr>
          <p:cNvSpPr txBox="1">
            <a:spLocks/>
          </p:cNvSpPr>
          <p:nvPr/>
        </p:nvSpPr>
        <p:spPr>
          <a:xfrm>
            <a:off x="199505" y="5497285"/>
            <a:ext cx="11779135" cy="994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dirty="0"/>
              <a:t>Repository Name Like: Summer Internship - I</a:t>
            </a:r>
          </a:p>
          <a:p>
            <a:pPr marL="457200" indent="-457200"/>
            <a:r>
              <a:rPr lang="en-US" dirty="0"/>
              <a:t>Under that include document, presentation and Certificate(Pdf).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6BAEDE-FCD2-94AF-9AF2-3A99591A5E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5" t="24605" r="78751" b="18256"/>
          <a:stretch/>
        </p:blipFill>
        <p:spPr>
          <a:xfrm>
            <a:off x="2198915" y="4125685"/>
            <a:ext cx="468086" cy="1959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470F4D-121C-AD0E-B441-3D4678B999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5" t="24605" r="78751" b="18256"/>
          <a:stretch/>
        </p:blipFill>
        <p:spPr>
          <a:xfrm>
            <a:off x="2057401" y="2166256"/>
            <a:ext cx="468086" cy="2177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1E50EC-577C-CC91-939F-2DB8FC4054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5" t="24605" r="78751" b="18256"/>
          <a:stretch/>
        </p:blipFill>
        <p:spPr>
          <a:xfrm>
            <a:off x="2302331" y="1654925"/>
            <a:ext cx="468086" cy="19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06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3613" y="2375670"/>
            <a:ext cx="6920484" cy="15951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600" i="1" dirty="0">
                <a:ln w="0"/>
                <a:solidFill>
                  <a:srgbClr val="FF66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 Queries?</a:t>
            </a:r>
            <a:endParaRPr lang="en-IN" sz="9600" dirty="0">
              <a:ln w="0"/>
              <a:solidFill>
                <a:srgbClr val="FF66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13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3613" y="2375670"/>
            <a:ext cx="6603859" cy="15951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600" i="1" dirty="0">
                <a:ln w="0"/>
                <a:solidFill>
                  <a:srgbClr val="FF66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Thank You!!!</a:t>
            </a:r>
            <a:endParaRPr lang="en-IN" sz="9600" dirty="0">
              <a:ln w="0"/>
              <a:solidFill>
                <a:srgbClr val="FF66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9650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1188</TotalTime>
  <Words>977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Times New Roman</vt:lpstr>
      <vt:lpstr>Wingdings</vt:lpstr>
      <vt:lpstr>Custom Design</vt:lpstr>
      <vt:lpstr>1_Custom Design</vt:lpstr>
      <vt:lpstr>2_Custom Design</vt:lpstr>
      <vt:lpstr>PowerPoint Presentation</vt:lpstr>
      <vt:lpstr>Contents</vt:lpstr>
      <vt:lpstr>Course Objective</vt:lpstr>
      <vt:lpstr>Introduction </vt:lpstr>
      <vt:lpstr>Technology</vt:lpstr>
      <vt:lpstr>Modules</vt:lpstr>
      <vt:lpstr>Modules </vt:lpstr>
      <vt:lpstr>Modules</vt:lpstr>
      <vt:lpstr>Modules </vt:lpstr>
      <vt:lpstr>Modules</vt:lpstr>
      <vt:lpstr>Modules </vt:lpstr>
      <vt:lpstr>Real-World Applications </vt:lpstr>
      <vt:lpstr>Learning OutComes</vt:lpstr>
      <vt:lpstr>Certificate </vt:lpstr>
      <vt:lpstr>Git Hub Dashboard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venkatesh k</dc:creator>
  <cp:lastModifiedBy>Thanzil Ahamed</cp:lastModifiedBy>
  <cp:revision>120</cp:revision>
  <dcterms:created xsi:type="dcterms:W3CDTF">2019-06-11T05:35:51Z</dcterms:created>
  <dcterms:modified xsi:type="dcterms:W3CDTF">2024-10-03T16:31:41Z</dcterms:modified>
</cp:coreProperties>
</file>